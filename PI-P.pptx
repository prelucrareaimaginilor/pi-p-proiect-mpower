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rts/chart1.xml" ContentType="application/vnd.openxmlformats-officedocument.drawingml.chart+xml"/>
  <Override PartName="/ppt/drawings/drawing1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3" r:id="rId1"/>
  </p:sldMasterIdLst>
  <p:sldIdLst>
    <p:sldId id="256" r:id="rId2"/>
  </p:sldIdLst>
  <p:sldSz cx="30267275" cy="42794238"/>
  <p:notesSz cx="7004050" cy="92900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79">
          <p15:clr>
            <a:srgbClr val="A4A3A4"/>
          </p15:clr>
        </p15:guide>
        <p15:guide id="2" pos="953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9676" autoAdjust="0"/>
    <p:restoredTop sz="94676" autoAdjust="0"/>
  </p:normalViewPr>
  <p:slideViewPr>
    <p:cSldViewPr>
      <p:cViewPr>
        <p:scale>
          <a:sx n="10" d="100"/>
          <a:sy n="10" d="100"/>
        </p:scale>
        <p:origin x="2227" y="509"/>
      </p:cViewPr>
      <p:guideLst>
        <p:guide orient="horz" pos="13479"/>
        <p:guide pos="95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0"/>
    <c:plotArea>
      <c:layout>
        <c:manualLayout>
          <c:layoutTarget val="inner"/>
          <c:xMode val="edge"/>
          <c:yMode val="edge"/>
          <c:x val="6.1774880179495256E-2"/>
          <c:y val="3.3002533313192299E-2"/>
          <c:w val="0.77826212929862304"/>
          <c:h val="0.912115081261654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D4-9349-84AB-00A1596E06D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7D4-9349-84AB-00A1596E06D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3.4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7D4-9349-84AB-00A1596E06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93736960"/>
        <c:axId val="93738496"/>
      </c:barChart>
      <c:catAx>
        <c:axId val="9373696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93738496"/>
        <c:crosses val="autoZero"/>
        <c:auto val="1"/>
        <c:lblAlgn val="ctr"/>
        <c:lblOffset val="100"/>
        <c:noMultiLvlLbl val="0"/>
      </c:catAx>
      <c:valAx>
        <c:axId val="93738496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93736960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0.46995412232967032"/>
          <c:y val="0.86382178649345376"/>
          <c:w val="0.12673105779834759"/>
          <c:h val="0.13093403232636405"/>
        </c:manualLayout>
      </c:layout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userShapes r:id="rId2"/>
</c:chartSpace>
</file>

<file path=ppt/drawing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0.99779</cdr:x>
      <cdr:y>1</cdr:y>
    </cdr:to>
    <cdr:pic>
      <cdr:nvPicPr>
        <cdr:cNvPr id="3" name="Picture 2">
          <a:extLst xmlns:a="http://schemas.openxmlformats.org/drawingml/2006/main">
            <a:ext uri="{FF2B5EF4-FFF2-40B4-BE49-F238E27FC236}">
              <a16:creationId xmlns:a16="http://schemas.microsoft.com/office/drawing/2014/main" id="{A5C6F9E8-86CB-2F75-7219-AE4207DF3276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/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5059749" cy="5066021"/>
        </a:xfrm>
        <a:prstGeom xmlns:a="http://schemas.openxmlformats.org/drawingml/2006/main" prst="rect">
          <a:avLst/>
        </a:prstGeom>
        <a:effectLst xmlns:a="http://schemas.openxmlformats.org/drawingml/2006/main">
          <a:outerShdw blurRad="50800" dist="38100" dir="10800000" algn="r" rotWithShape="0">
            <a:prstClr val="black">
              <a:alpha val="40000"/>
            </a:prstClr>
          </a:outerShdw>
        </a:effectLst>
      </cdr:spPr>
    </cdr:pic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046" y="7003597"/>
            <a:ext cx="25727184" cy="14898735"/>
          </a:xfrm>
        </p:spPr>
        <p:txBody>
          <a:bodyPr anchor="b"/>
          <a:lstStyle>
            <a:lvl1pPr algn="ctr">
              <a:defRPr sz="1986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3410" y="22476884"/>
            <a:ext cx="22700456" cy="10332032"/>
          </a:xfrm>
        </p:spPr>
        <p:txBody>
          <a:bodyPr/>
          <a:lstStyle>
            <a:lvl1pPr marL="0" indent="0" algn="ctr">
              <a:buNone/>
              <a:defRPr sz="7944"/>
            </a:lvl1pPr>
            <a:lvl2pPr marL="1513378" indent="0" algn="ctr">
              <a:buNone/>
              <a:defRPr sz="6620"/>
            </a:lvl2pPr>
            <a:lvl3pPr marL="3026755" indent="0" algn="ctr">
              <a:buNone/>
              <a:defRPr sz="5958"/>
            </a:lvl3pPr>
            <a:lvl4pPr marL="4540133" indent="0" algn="ctr">
              <a:buNone/>
              <a:defRPr sz="5296"/>
            </a:lvl4pPr>
            <a:lvl5pPr marL="6053511" indent="0" algn="ctr">
              <a:buNone/>
              <a:defRPr sz="5296"/>
            </a:lvl5pPr>
            <a:lvl6pPr marL="7566889" indent="0" algn="ctr">
              <a:buNone/>
              <a:defRPr sz="5296"/>
            </a:lvl6pPr>
            <a:lvl7pPr marL="9080266" indent="0" algn="ctr">
              <a:buNone/>
              <a:defRPr sz="5296"/>
            </a:lvl7pPr>
            <a:lvl8pPr marL="10593644" indent="0" algn="ctr">
              <a:buNone/>
              <a:defRPr sz="5296"/>
            </a:lvl8pPr>
            <a:lvl9pPr marL="12107022" indent="0" algn="ctr">
              <a:buNone/>
              <a:defRPr sz="529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0259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8045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112" y="10668854"/>
            <a:ext cx="26105525" cy="17801211"/>
          </a:xfrm>
        </p:spPr>
        <p:txBody>
          <a:bodyPr anchor="b"/>
          <a:lstStyle>
            <a:lvl1pPr>
              <a:defRPr sz="1986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112" y="28638472"/>
            <a:ext cx="26105525" cy="9361236"/>
          </a:xfrm>
        </p:spPr>
        <p:txBody>
          <a:bodyPr/>
          <a:lstStyle>
            <a:lvl1pPr marL="0" indent="0">
              <a:buNone/>
              <a:defRPr sz="7944">
                <a:solidFill>
                  <a:schemeClr val="tx1"/>
                </a:solidFill>
              </a:defRPr>
            </a:lvl1pPr>
            <a:lvl2pPr marL="1513378" indent="0">
              <a:buNone/>
              <a:defRPr sz="6620">
                <a:solidFill>
                  <a:schemeClr val="tx1">
                    <a:tint val="75000"/>
                  </a:schemeClr>
                </a:solidFill>
              </a:defRPr>
            </a:lvl2pPr>
            <a:lvl3pPr marL="3026755" indent="0">
              <a:buNone/>
              <a:defRPr sz="5958">
                <a:solidFill>
                  <a:schemeClr val="tx1">
                    <a:tint val="75000"/>
                  </a:schemeClr>
                </a:solidFill>
              </a:defRPr>
            </a:lvl3pPr>
            <a:lvl4pPr marL="4540133" indent="0">
              <a:buNone/>
              <a:defRPr sz="5296">
                <a:solidFill>
                  <a:schemeClr val="tx1">
                    <a:tint val="75000"/>
                  </a:schemeClr>
                </a:solidFill>
              </a:defRPr>
            </a:lvl4pPr>
            <a:lvl5pPr marL="6053511" indent="0">
              <a:buNone/>
              <a:defRPr sz="5296">
                <a:solidFill>
                  <a:schemeClr val="tx1">
                    <a:tint val="75000"/>
                  </a:schemeClr>
                </a:solidFill>
              </a:defRPr>
            </a:lvl5pPr>
            <a:lvl6pPr marL="7566889" indent="0">
              <a:buNone/>
              <a:defRPr sz="5296">
                <a:solidFill>
                  <a:schemeClr val="tx1">
                    <a:tint val="75000"/>
                  </a:schemeClr>
                </a:solidFill>
              </a:defRPr>
            </a:lvl6pPr>
            <a:lvl7pPr marL="9080266" indent="0">
              <a:buNone/>
              <a:defRPr sz="5296">
                <a:solidFill>
                  <a:schemeClr val="tx1">
                    <a:tint val="75000"/>
                  </a:schemeClr>
                </a:solidFill>
              </a:defRPr>
            </a:lvl7pPr>
            <a:lvl8pPr marL="10593644" indent="0">
              <a:buNone/>
              <a:defRPr sz="5296">
                <a:solidFill>
                  <a:schemeClr val="tx1">
                    <a:tint val="75000"/>
                  </a:schemeClr>
                </a:solidFill>
              </a:defRPr>
            </a:lvl8pPr>
            <a:lvl9pPr marL="12107022" indent="0">
              <a:buNone/>
              <a:defRPr sz="52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282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0875" y="11391985"/>
            <a:ext cx="12863592" cy="271525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2808" y="11391985"/>
            <a:ext cx="12863592" cy="271525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962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17" y="2278406"/>
            <a:ext cx="26105525" cy="827157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821" y="10490535"/>
            <a:ext cx="12804474" cy="5141249"/>
          </a:xfrm>
        </p:spPr>
        <p:txBody>
          <a:bodyPr anchor="b"/>
          <a:lstStyle>
            <a:lvl1pPr marL="0" indent="0">
              <a:buNone/>
              <a:defRPr sz="7944" b="1"/>
            </a:lvl1pPr>
            <a:lvl2pPr marL="1513378" indent="0">
              <a:buNone/>
              <a:defRPr sz="6620" b="1"/>
            </a:lvl2pPr>
            <a:lvl3pPr marL="3026755" indent="0">
              <a:buNone/>
              <a:defRPr sz="5958" b="1"/>
            </a:lvl3pPr>
            <a:lvl4pPr marL="4540133" indent="0">
              <a:buNone/>
              <a:defRPr sz="5296" b="1"/>
            </a:lvl4pPr>
            <a:lvl5pPr marL="6053511" indent="0">
              <a:buNone/>
              <a:defRPr sz="5296" b="1"/>
            </a:lvl5pPr>
            <a:lvl6pPr marL="7566889" indent="0">
              <a:buNone/>
              <a:defRPr sz="5296" b="1"/>
            </a:lvl6pPr>
            <a:lvl7pPr marL="9080266" indent="0">
              <a:buNone/>
              <a:defRPr sz="5296" b="1"/>
            </a:lvl7pPr>
            <a:lvl8pPr marL="10593644" indent="0">
              <a:buNone/>
              <a:defRPr sz="5296" b="1"/>
            </a:lvl8pPr>
            <a:lvl9pPr marL="12107022" indent="0">
              <a:buNone/>
              <a:defRPr sz="529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4821" y="15631784"/>
            <a:ext cx="12804474" cy="2299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2810" y="10490535"/>
            <a:ext cx="12867534" cy="5141249"/>
          </a:xfrm>
        </p:spPr>
        <p:txBody>
          <a:bodyPr anchor="b"/>
          <a:lstStyle>
            <a:lvl1pPr marL="0" indent="0">
              <a:buNone/>
              <a:defRPr sz="7944" b="1"/>
            </a:lvl1pPr>
            <a:lvl2pPr marL="1513378" indent="0">
              <a:buNone/>
              <a:defRPr sz="6620" b="1"/>
            </a:lvl2pPr>
            <a:lvl3pPr marL="3026755" indent="0">
              <a:buNone/>
              <a:defRPr sz="5958" b="1"/>
            </a:lvl3pPr>
            <a:lvl4pPr marL="4540133" indent="0">
              <a:buNone/>
              <a:defRPr sz="5296" b="1"/>
            </a:lvl4pPr>
            <a:lvl5pPr marL="6053511" indent="0">
              <a:buNone/>
              <a:defRPr sz="5296" b="1"/>
            </a:lvl5pPr>
            <a:lvl6pPr marL="7566889" indent="0">
              <a:buNone/>
              <a:defRPr sz="5296" b="1"/>
            </a:lvl6pPr>
            <a:lvl7pPr marL="9080266" indent="0">
              <a:buNone/>
              <a:defRPr sz="5296" b="1"/>
            </a:lvl7pPr>
            <a:lvl8pPr marL="10593644" indent="0">
              <a:buNone/>
              <a:defRPr sz="5296" b="1"/>
            </a:lvl8pPr>
            <a:lvl9pPr marL="12107022" indent="0">
              <a:buNone/>
              <a:defRPr sz="529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2810" y="15631784"/>
            <a:ext cx="12867534" cy="2299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20906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429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945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17" y="2852949"/>
            <a:ext cx="9761984" cy="9985322"/>
          </a:xfrm>
        </p:spPr>
        <p:txBody>
          <a:bodyPr anchor="b"/>
          <a:lstStyle>
            <a:lvl1pPr>
              <a:defRPr sz="1059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67534" y="6161587"/>
            <a:ext cx="15322808" cy="30411646"/>
          </a:xfrm>
        </p:spPr>
        <p:txBody>
          <a:bodyPr/>
          <a:lstStyle>
            <a:lvl1pPr>
              <a:defRPr sz="10592"/>
            </a:lvl1pPr>
            <a:lvl2pPr>
              <a:defRPr sz="9268"/>
            </a:lvl2pPr>
            <a:lvl3pPr>
              <a:defRPr sz="7944"/>
            </a:lvl3pPr>
            <a:lvl4pPr>
              <a:defRPr sz="6620"/>
            </a:lvl4pPr>
            <a:lvl5pPr>
              <a:defRPr sz="6620"/>
            </a:lvl5pPr>
            <a:lvl6pPr>
              <a:defRPr sz="6620"/>
            </a:lvl6pPr>
            <a:lvl7pPr>
              <a:defRPr sz="6620"/>
            </a:lvl7pPr>
            <a:lvl8pPr>
              <a:defRPr sz="6620"/>
            </a:lvl8pPr>
            <a:lvl9pPr>
              <a:defRPr sz="66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4817" y="12838271"/>
            <a:ext cx="9761984" cy="23784486"/>
          </a:xfrm>
        </p:spPr>
        <p:txBody>
          <a:bodyPr/>
          <a:lstStyle>
            <a:lvl1pPr marL="0" indent="0">
              <a:buNone/>
              <a:defRPr sz="5296"/>
            </a:lvl1pPr>
            <a:lvl2pPr marL="1513378" indent="0">
              <a:buNone/>
              <a:defRPr sz="4634"/>
            </a:lvl2pPr>
            <a:lvl3pPr marL="3026755" indent="0">
              <a:buNone/>
              <a:defRPr sz="3972"/>
            </a:lvl3pPr>
            <a:lvl4pPr marL="4540133" indent="0">
              <a:buNone/>
              <a:defRPr sz="3310"/>
            </a:lvl4pPr>
            <a:lvl5pPr marL="6053511" indent="0">
              <a:buNone/>
              <a:defRPr sz="3310"/>
            </a:lvl5pPr>
            <a:lvl6pPr marL="7566889" indent="0">
              <a:buNone/>
              <a:defRPr sz="3310"/>
            </a:lvl6pPr>
            <a:lvl7pPr marL="9080266" indent="0">
              <a:buNone/>
              <a:defRPr sz="3310"/>
            </a:lvl7pPr>
            <a:lvl8pPr marL="10593644" indent="0">
              <a:buNone/>
              <a:defRPr sz="3310"/>
            </a:lvl8pPr>
            <a:lvl9pPr marL="12107022" indent="0">
              <a:buNone/>
              <a:defRPr sz="331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863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17" y="2852949"/>
            <a:ext cx="9761984" cy="9985322"/>
          </a:xfrm>
        </p:spPr>
        <p:txBody>
          <a:bodyPr anchor="b"/>
          <a:lstStyle>
            <a:lvl1pPr>
              <a:defRPr sz="1059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67534" y="6161587"/>
            <a:ext cx="15322808" cy="30411646"/>
          </a:xfrm>
        </p:spPr>
        <p:txBody>
          <a:bodyPr anchor="t"/>
          <a:lstStyle>
            <a:lvl1pPr marL="0" indent="0">
              <a:buNone/>
              <a:defRPr sz="10592"/>
            </a:lvl1pPr>
            <a:lvl2pPr marL="1513378" indent="0">
              <a:buNone/>
              <a:defRPr sz="9268"/>
            </a:lvl2pPr>
            <a:lvl3pPr marL="3026755" indent="0">
              <a:buNone/>
              <a:defRPr sz="7944"/>
            </a:lvl3pPr>
            <a:lvl4pPr marL="4540133" indent="0">
              <a:buNone/>
              <a:defRPr sz="6620"/>
            </a:lvl4pPr>
            <a:lvl5pPr marL="6053511" indent="0">
              <a:buNone/>
              <a:defRPr sz="6620"/>
            </a:lvl5pPr>
            <a:lvl6pPr marL="7566889" indent="0">
              <a:buNone/>
              <a:defRPr sz="6620"/>
            </a:lvl6pPr>
            <a:lvl7pPr marL="9080266" indent="0">
              <a:buNone/>
              <a:defRPr sz="6620"/>
            </a:lvl7pPr>
            <a:lvl8pPr marL="10593644" indent="0">
              <a:buNone/>
              <a:defRPr sz="6620"/>
            </a:lvl8pPr>
            <a:lvl9pPr marL="12107022" indent="0">
              <a:buNone/>
              <a:defRPr sz="66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4817" y="12838271"/>
            <a:ext cx="9761984" cy="23784486"/>
          </a:xfrm>
        </p:spPr>
        <p:txBody>
          <a:bodyPr/>
          <a:lstStyle>
            <a:lvl1pPr marL="0" indent="0">
              <a:buNone/>
              <a:defRPr sz="5296"/>
            </a:lvl1pPr>
            <a:lvl2pPr marL="1513378" indent="0">
              <a:buNone/>
              <a:defRPr sz="4634"/>
            </a:lvl2pPr>
            <a:lvl3pPr marL="3026755" indent="0">
              <a:buNone/>
              <a:defRPr sz="3972"/>
            </a:lvl3pPr>
            <a:lvl4pPr marL="4540133" indent="0">
              <a:buNone/>
              <a:defRPr sz="3310"/>
            </a:lvl4pPr>
            <a:lvl5pPr marL="6053511" indent="0">
              <a:buNone/>
              <a:defRPr sz="3310"/>
            </a:lvl5pPr>
            <a:lvl6pPr marL="7566889" indent="0">
              <a:buNone/>
              <a:defRPr sz="3310"/>
            </a:lvl6pPr>
            <a:lvl7pPr marL="9080266" indent="0">
              <a:buNone/>
              <a:defRPr sz="3310"/>
            </a:lvl7pPr>
            <a:lvl8pPr marL="10593644" indent="0">
              <a:buNone/>
              <a:defRPr sz="3310"/>
            </a:lvl8pPr>
            <a:lvl9pPr marL="12107022" indent="0">
              <a:buNone/>
              <a:defRPr sz="331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81996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9769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0020" y="2278397"/>
            <a:ext cx="6526381" cy="362661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0877" y="2278397"/>
            <a:ext cx="19200803" cy="362661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295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29426517" y="0"/>
            <a:ext cx="840758" cy="427942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0" y="0"/>
            <a:ext cx="840758" cy="427942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30267275" cy="534927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0" y="37444959"/>
            <a:ext cx="30267275" cy="53492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9" name="Instructions"/>
          <p:cNvSpPr/>
          <p:nvPr userDrawn="1"/>
        </p:nvSpPr>
        <p:spPr>
          <a:xfrm>
            <a:off x="-12611365" y="0"/>
            <a:ext cx="11770607" cy="427942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7425" tIns="217425" rIns="217425" bIns="217425" rtlCol="0" anchor="t"/>
          <a:lstStyle>
            <a:defPPr>
              <a:defRPr lang="en-US"/>
            </a:defPPr>
            <a:lvl1pPr marL="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184343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368686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553029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37372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921715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106058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1290401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1474744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Print Size:</a:t>
            </a:r>
            <a:endParaRPr sz="8800" dirty="0">
              <a:solidFill>
                <a:srgbClr val="7F7F7F"/>
              </a:solidFill>
              <a:latin typeface="Calibri" pitchFamily="34" charset="0"/>
              <a:cs typeface="Calibri" panose="020F0502020204030204" pitchFamily="34" charset="0"/>
            </a:endParaRP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This poster template is set up for A0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international paper size of 1189 mm x 841 mm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(46.8” high by 33.1” wide). It can be printed at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70.6% for an A1 poster of 841 mm x 594 mm.</a:t>
            </a:r>
            <a:endParaRPr lang="en-US" sz="6000" dirty="0">
              <a:solidFill>
                <a:srgbClr val="7F7F7F"/>
              </a:solidFill>
              <a:latin typeface="Calibri" pitchFamily="34" charset="0"/>
              <a:cs typeface="Calibri" panose="020F0502020204030204" pitchFamily="34" charset="0"/>
            </a:endParaRP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Placeholders</a:t>
            </a:r>
            <a:r>
              <a:rPr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The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various elements included</a:t>
            </a: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in this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are ones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we often see in medical, research, and scientific posters.</a:t>
            </a: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Feel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free to edit, move,  add, and delete items, or change the layout to suit your needs. Always check with your conference organizer for specific requirements.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Image</a:t>
            </a:r>
            <a:r>
              <a:rPr lang="en-US" sz="88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Quality</a:t>
            </a: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You can place digital photos or logo art in your poster file by selecting the </a:t>
            </a:r>
            <a:r>
              <a:rPr lang="en-US" sz="6000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Insert, Picture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command, or by using standard copy &amp; paste. For best results, all graphic elements should be at least </a:t>
            </a:r>
            <a:r>
              <a:rPr lang="en-US" sz="6000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150-200 pixels per inch in their final printed size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. For instance, a 1600 x 1200 pixel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photo will usually look fine up to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8“-10” wide on your printed poster.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To preview the print quality of images, select a magnification of 100% when previewing your poster. This will give you a good idea of what it will look like in print. If you are laying out a large poster and using half-scale dimensions, be sure to preview your graphics at 200% to see them at their final printed size.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Please note that graphics from websites (such as the logo on your hospital's or university's home page) will only be 72dpi and not suitable for printing.</a:t>
            </a:r>
          </a:p>
          <a:p>
            <a:pPr lvl="0" algn="ctr">
              <a:spcBef>
                <a:spcPts val="0"/>
              </a:spcBef>
              <a:spcAft>
                <a:spcPts val="2282"/>
              </a:spcAft>
            </a:pPr>
            <a:br>
              <a:rPr lang="en-US" sz="44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</a:br>
            <a:r>
              <a:rPr lang="en-US" sz="44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[This sidebar area does not print.]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31108033" y="0"/>
            <a:ext cx="11770607" cy="42794238"/>
            <a:chOff x="33832800" y="0"/>
            <a:chExt cx="12801600" cy="43891200"/>
          </a:xfrm>
        </p:grpSpPr>
        <p:sp>
          <p:nvSpPr>
            <p:cNvPr id="13" name="Instructions"/>
            <p:cNvSpPr/>
            <p:nvPr userDrawn="1"/>
          </p:nvSpPr>
          <p:spPr>
            <a:xfrm>
              <a:off x="33832800" y="0"/>
              <a:ext cx="12801600" cy="438912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28600" tIns="228600" rIns="228600" bIns="228600" rtlCol="0" anchor="t"/>
            <a:lstStyle>
              <a:defPPr>
                <a:defRPr lang="en-US"/>
              </a:defPPr>
              <a:lvl1pPr marL="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184343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368686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553029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737372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921715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1106058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1290401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1474744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Change</a:t>
              </a:r>
              <a:r>
                <a:rPr lang="en-US" sz="88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Color Theme</a:t>
              </a: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:</a:t>
              </a:r>
              <a:endParaRPr sz="88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This template is designed to use the built-in color themes in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the newer versions of PowerPoint.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To change the color theme, select the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Design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tab, then select the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Colors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drop-down list.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The default color theme for this template is “Office”, so you can always return to that after trying some of the alternatives.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Printing Your Poster: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Once your poster file is ready, visit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www.genigraphics.com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to order a high-quality, affordable poster print. Every order receives a free design review and we can delivery as fast as next business day within the US and Canada. 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Genigraphics® has been producing output from PowerPoint® longer than anyone in the industry; dating back to when we helped Microsoft® design the PowerPoint software. </a:t>
              </a:r>
            </a:p>
            <a:p>
              <a:pPr lvl="0">
                <a:spcBef>
                  <a:spcPts val="0"/>
                </a:spcBef>
                <a:spcAft>
                  <a:spcPts val="0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US and Canada:  1-800-790-4001</a:t>
              </a: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International: +(1) 913-441-1410</a:t>
              </a:r>
              <a:b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Email: info@genigraphics.com</a:t>
              </a: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br>
                <a:rPr lang="en-US" sz="44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44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[This sidebar area does not print.]</a:t>
              </a:r>
            </a:p>
          </p:txBody>
        </p:sp>
        <p:pic>
          <p:nvPicPr>
            <p:cNvPr id="14" name="Picture 13"/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281342" y="8425085"/>
              <a:ext cx="11904515" cy="10246926"/>
            </a:xfrm>
            <a:prstGeom prst="rect">
              <a:avLst/>
            </a:prstGeom>
          </p:spPr>
        </p:pic>
      </p:grp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11037" y="42504519"/>
            <a:ext cx="5297435" cy="18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928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0875" y="2278406"/>
            <a:ext cx="26105525" cy="82715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0875" y="11391985"/>
            <a:ext cx="26105525" cy="27152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0875" y="39663928"/>
            <a:ext cx="6810137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6035" y="39663928"/>
            <a:ext cx="10215205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76263" y="39663928"/>
            <a:ext cx="6810137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480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67" r:id="rId4"/>
    <p:sldLayoutId id="2147483768" r:id="rId5"/>
    <p:sldLayoutId id="2147483769" r:id="rId6"/>
    <p:sldLayoutId id="2147483770" r:id="rId7"/>
    <p:sldLayoutId id="2147483771" r:id="rId8"/>
    <p:sldLayoutId id="2147483772" r:id="rId9"/>
    <p:sldLayoutId id="2147483773" r:id="rId10"/>
    <p:sldLayoutId id="2147483774" r:id="rId11"/>
    <p:sldLayoutId id="2147483775" r:id="rId12"/>
  </p:sldLayoutIdLst>
  <p:txStyles>
    <p:titleStyle>
      <a:lvl1pPr algn="l" defTabSz="3026755" rtl="0" eaLnBrk="1" latinLnBrk="0" hangingPunct="1">
        <a:lnSpc>
          <a:spcPct val="90000"/>
        </a:lnSpc>
        <a:spcBef>
          <a:spcPct val="0"/>
        </a:spcBef>
        <a:buNone/>
        <a:defRPr sz="145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689" indent="-756689" algn="l" defTabSz="3026755" rtl="0" eaLnBrk="1" latinLnBrk="0" hangingPunct="1">
        <a:lnSpc>
          <a:spcPct val="90000"/>
        </a:lnSpc>
        <a:spcBef>
          <a:spcPts val="3310"/>
        </a:spcBef>
        <a:buFont typeface="Arial" panose="020B0604020202020204" pitchFamily="34" charset="0"/>
        <a:buChar char="•"/>
        <a:defRPr sz="9268" kern="1200">
          <a:solidFill>
            <a:schemeClr val="tx1"/>
          </a:solidFill>
          <a:latin typeface="+mn-lt"/>
          <a:ea typeface="+mn-ea"/>
          <a:cs typeface="+mn-cs"/>
        </a:defRPr>
      </a:lvl1pPr>
      <a:lvl2pPr marL="2270067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4" kern="1200">
          <a:solidFill>
            <a:schemeClr val="tx1"/>
          </a:solidFill>
          <a:latin typeface="+mn-lt"/>
          <a:ea typeface="+mn-ea"/>
          <a:cs typeface="+mn-cs"/>
        </a:defRPr>
      </a:lvl2pPr>
      <a:lvl3pPr marL="3783444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0" kern="1200">
          <a:solidFill>
            <a:schemeClr val="tx1"/>
          </a:solidFill>
          <a:latin typeface="+mn-lt"/>
          <a:ea typeface="+mn-ea"/>
          <a:cs typeface="+mn-cs"/>
        </a:defRPr>
      </a:lvl3pPr>
      <a:lvl4pPr marL="5296822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4pPr>
      <a:lvl5pPr marL="6810200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5pPr>
      <a:lvl6pPr marL="8323577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6pPr>
      <a:lvl7pPr marL="9836955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7pPr>
      <a:lvl8pPr marL="11350333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8pPr>
      <a:lvl9pPr marL="12863711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1pPr>
      <a:lvl2pPr marL="1513378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2pPr>
      <a:lvl3pPr marL="3026755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3pPr>
      <a:lvl4pPr marL="4540133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4pPr>
      <a:lvl5pPr marL="6053511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5pPr>
      <a:lvl6pPr marL="7566889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6pPr>
      <a:lvl7pPr marL="9080266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7pPr>
      <a:lvl8pPr marL="10593644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8pPr>
      <a:lvl9pPr marL="12107022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22"/>
          <p:cNvSpPr txBox="1">
            <a:spLocks noChangeArrowheads="1"/>
          </p:cNvSpPr>
          <p:nvPr/>
        </p:nvSpPr>
        <p:spPr bwMode="auto">
          <a:xfrm>
            <a:off x="4715600" y="959856"/>
            <a:ext cx="21117102" cy="53101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73940" tIns="434850" rIns="173940" bIns="434850" anchor="ctr" anchorCtr="0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/>
            <a:r>
              <a:rPr lang="en-US" sz="7200" noProof="1">
                <a:solidFill>
                  <a:schemeClr val="bg1"/>
                </a:solidFill>
              </a:rPr>
              <a:t>Stabilizare Video Monoculară cu Estimare Afină a Mișcării (Python + OpenCV)</a:t>
            </a:r>
          </a:p>
          <a:p>
            <a:pPr algn="ctr"/>
            <a:br>
              <a:rPr lang="en-US" sz="7200" noProof="1">
                <a:solidFill>
                  <a:schemeClr val="bg1"/>
                </a:solidFill>
              </a:rPr>
            </a:br>
            <a:endParaRPr lang="en-US" sz="7200" b="1" noProof="1">
              <a:solidFill>
                <a:schemeClr val="bg1"/>
              </a:solidFill>
              <a:latin typeface="+mn-l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261136" y="39049740"/>
            <a:ext cx="6785901" cy="28578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lIns="86970" tIns="43485" rIns="86970" bIns="43485" rtlCol="0">
            <a:spAutoFit/>
          </a:bodyPr>
          <a:lstStyle/>
          <a:p>
            <a:r>
              <a:rPr lang="en-US" sz="3600" noProof="1"/>
              <a:t>CIOBANU CONSTANTIN-MARCU</a:t>
            </a:r>
          </a:p>
          <a:p>
            <a:r>
              <a:rPr lang="en-US" sz="3600" noProof="1"/>
              <a:t>BUTCO DUMITRU-CONSTANTIN</a:t>
            </a:r>
          </a:p>
          <a:p>
            <a:r>
              <a:rPr lang="en-US" sz="3600" noProof="1"/>
              <a:t>Prod Indr. </a:t>
            </a:r>
          </a:p>
          <a:p>
            <a:r>
              <a:rPr lang="en-US" sz="3600" noProof="1"/>
              <a:t>Ș.l. Otilia Zvorișteanu</a:t>
            </a:r>
          </a:p>
          <a:p>
            <a:r>
              <a:rPr lang="en-US" sz="3600" noProof="1"/>
              <a:t>Ș.l. Ștefan Achirei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28874" y="39509148"/>
            <a:ext cx="13452122" cy="2852949"/>
          </a:xfrm>
          <a:prstGeom prst="rect">
            <a:avLst/>
          </a:prstGeom>
          <a:noFill/>
        </p:spPr>
        <p:txBody>
          <a:bodyPr wrap="square" lIns="86970" tIns="86970" rIns="86970" bIns="86970" numCol="1" spcCol="434850" rtlCol="0">
            <a:noAutofit/>
          </a:bodyPr>
          <a:lstStyle/>
          <a:p>
            <a:r>
              <a:rPr lang="en-US" sz="2800" dirty="0"/>
              <a:t>[1] Shi &amp; Tomasi, Good Features to Track, 1994.</a:t>
            </a:r>
            <a:br>
              <a:rPr lang="en-US" sz="2800" dirty="0"/>
            </a:br>
            <a:r>
              <a:rPr lang="en-US" sz="2800" dirty="0"/>
              <a:t>[2] Lucas &amp; Kanade, Image Registration, 1981.</a:t>
            </a:r>
            <a:br>
              <a:rPr lang="en-US" sz="2800" dirty="0"/>
            </a:br>
            <a:r>
              <a:rPr lang="en-US" sz="2800" dirty="0"/>
              <a:t>[3] Fischler &amp; Bolles, RANSAC, 1981.</a:t>
            </a:r>
            <a:br>
              <a:rPr lang="en-US" sz="2800" dirty="0"/>
            </a:br>
            <a:r>
              <a:rPr lang="en-US" sz="2800" dirty="0"/>
              <a:t>[4] OpenCV Documentation (Video Stabilization &amp; Features).</a:t>
            </a:r>
            <a:br>
              <a:rPr lang="en-US" sz="2800" dirty="0"/>
            </a:br>
            <a:r>
              <a:rPr lang="en-US" sz="2800" dirty="0"/>
              <a:t>[5] Nghia Ho – Tutorial Video Stabilization (concept trajectory smoothing).</a:t>
            </a:r>
            <a:br>
              <a:rPr lang="en-US" sz="2800" dirty="0"/>
            </a:br>
            <a:r>
              <a:rPr lang="en-US" sz="2800" dirty="0"/>
              <a:t>[6] Rublee et al., ORB, ICCV 2011 </a:t>
            </a:r>
            <a:endParaRPr lang="en-US" sz="2800" noProof="1"/>
          </a:p>
        </p:txBody>
      </p:sp>
      <p:sp>
        <p:nvSpPr>
          <p:cNvPr id="27" name="TextBox 26"/>
          <p:cNvSpPr txBox="1"/>
          <p:nvPr/>
        </p:nvSpPr>
        <p:spPr>
          <a:xfrm>
            <a:off x="15157978" y="38727272"/>
            <a:ext cx="3452498" cy="918816"/>
          </a:xfrm>
          <a:prstGeom prst="rect">
            <a:avLst/>
          </a:prstGeom>
          <a:noFill/>
        </p:spPr>
        <p:txBody>
          <a:bodyPr wrap="none" lIns="86970" tIns="43485" rIns="86970" bIns="43485" rtlCol="0">
            <a:spAutoFit/>
          </a:bodyPr>
          <a:lstStyle/>
          <a:p>
            <a:r>
              <a:rPr lang="en-US" sz="5400" b="1" noProof="1"/>
              <a:t>Bibliografie</a:t>
            </a:r>
          </a:p>
        </p:txBody>
      </p:sp>
      <p:sp>
        <p:nvSpPr>
          <p:cNvPr id="10" name="Text Box 189"/>
          <p:cNvSpPr txBox="1">
            <a:spLocks noChangeArrowheads="1"/>
          </p:cNvSpPr>
          <p:nvPr/>
        </p:nvSpPr>
        <p:spPr bwMode="auto">
          <a:xfrm>
            <a:off x="1111510" y="6535981"/>
            <a:ext cx="8407576" cy="9769240"/>
          </a:xfrm>
          <a:prstGeom prst="rect">
            <a:avLst/>
          </a:prstGeom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Scop: reducerea tremuratului (jitter) din filmări monoculare handheld prin estimarea și filtrarea traiectoriei camerei. Metodă: detectare colțuri (Shi–Tomasi), urmărire optică (Lucas–Kanade piramidal), estimare transform afină cu RANSAC, netezire (medie mobilă) a traiectoriei cumulative și aplicare transform invers pentru compensare. Implementare: backend Flask + OpenCV, interfață web (upload, parametri window/crop/overlay/side‑by‑side). Rezultat: scădere a variației frame‑to‑frame a deplasărilor cu o medie de 30% și îmbunătățire vizuală fără distorsiuni majore.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11510" y="5596825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Abstract</a:t>
            </a:r>
          </a:p>
        </p:txBody>
      </p:sp>
      <p:sp>
        <p:nvSpPr>
          <p:cNvPr id="15" name="Text Box 194"/>
          <p:cNvSpPr txBox="1">
            <a:spLocks noChangeArrowheads="1"/>
          </p:cNvSpPr>
          <p:nvPr/>
        </p:nvSpPr>
        <p:spPr bwMode="auto">
          <a:xfrm>
            <a:off x="10656121" y="19820429"/>
            <a:ext cx="8407576" cy="1143123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Rezultate:</a:t>
            </a:r>
          </a:p>
          <a:p>
            <a:r>
              <a:rPr lang="en-US" sz="3600" noProof="1"/>
              <a:t>- Stabilizare vizuală: jitter redus semnificativ pe clipuri cu mișcare neregulată de mână.</a:t>
            </a:r>
          </a:p>
          <a:p>
            <a:r>
              <a:rPr lang="en-US" sz="3600" noProof="1"/>
              <a:t>- Pierdere modică la margini (crop 4–8%).</a:t>
            </a:r>
          </a:p>
          <a:p>
            <a:r>
              <a:rPr lang="en-US" sz="3600" noProof="1"/>
              <a:t>Procesare: 44.08 fps (mai rapid decât timpul real)</a:t>
            </a:r>
          </a:p>
          <a:p>
            <a:r>
              <a:rPr lang="en-US" sz="3600" noProof="1"/>
              <a:t>Parametri: fereastră netezire 10 | crop 4% | overlay: da | side-by-side: da | scale: 0.5</a:t>
            </a:r>
          </a:p>
          <a:p>
            <a:r>
              <a:rPr lang="en-US" sz="3600" noProof="1"/>
              <a:t>Trăsături detectate (medie): 221 / cadru</a:t>
            </a:r>
          </a:p>
          <a:p>
            <a:r>
              <a:rPr lang="en-US" sz="3600" noProof="1"/>
              <a:t>Inliers (medie): 200 (≈90.6% din trăsături)</a:t>
            </a:r>
          </a:p>
          <a:p>
            <a:r>
              <a:rPr lang="en-US" sz="3600" noProof="1"/>
              <a:t>Cadre fallback: 7.7%</a:t>
            </a:r>
          </a:p>
          <a:p>
            <a:r>
              <a:rPr lang="en-US" sz="3600" noProof="1"/>
              <a:t>Reducere jitter (std incrementale):</a:t>
            </a:r>
          </a:p>
          <a:p>
            <a:pPr lvl="1"/>
            <a:r>
              <a:rPr lang="en-US" sz="3600" noProof="1"/>
              <a:t>Transl. X: 25.86 → 17.74 px (−31%)</a:t>
            </a:r>
          </a:p>
          <a:p>
            <a:pPr lvl="1"/>
            <a:r>
              <a:rPr lang="en-US" sz="3600" noProof="1"/>
              <a:t>Transl. Y: 38.19 → 21.32 px (−44%)</a:t>
            </a:r>
          </a:p>
          <a:p>
            <a:pPr lvl="1"/>
            <a:r>
              <a:rPr lang="en-US" sz="3600" noProof="1"/>
              <a:t>Rotație: 0.41° → 0.15° (−62%)</a:t>
            </a:r>
          </a:p>
          <a:p>
            <a:r>
              <a:rPr lang="en-US" sz="3600" noProof="1"/>
              <a:t>Observație: stabilizare reușită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11510" y="17422243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Introducere</a:t>
            </a:r>
          </a:p>
        </p:txBody>
      </p:sp>
      <p:sp>
        <p:nvSpPr>
          <p:cNvPr id="13" name="Text Box 192"/>
          <p:cNvSpPr txBox="1">
            <a:spLocks noChangeArrowheads="1"/>
          </p:cNvSpPr>
          <p:nvPr/>
        </p:nvSpPr>
        <p:spPr bwMode="auto">
          <a:xfrm>
            <a:off x="10659390" y="6575675"/>
            <a:ext cx="8407576" cy="1143123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Pre-procesare: conversie la gri, opțional downscale (scale).</a:t>
            </a:r>
          </a:p>
          <a:p>
            <a:r>
              <a:rPr lang="en-US" sz="3600" noProof="1"/>
              <a:t>Features: Shi–Tomasi (max 500 puncte, quality 0.01, minDist 20).</a:t>
            </a:r>
          </a:p>
          <a:p>
            <a:r>
              <a:rPr lang="en-US" sz="3600" noProof="1"/>
              <a:t>Tracking: Lucas–Kanade piramidal (niveluri 3, fereastră 21×21).</a:t>
            </a:r>
          </a:p>
          <a:p>
            <a:r>
              <a:rPr lang="en-US" sz="3600" noProof="1"/>
              <a:t>Model: estimateAffinePartial2D + RANSAC (thresh 3 px, maxIters 100).</a:t>
            </a:r>
          </a:p>
          <a:p>
            <a:r>
              <a:rPr lang="en-US" sz="3600" noProof="1"/>
              <a:t>Parametri extrași: dx, dy, da (rotație).</a:t>
            </a:r>
          </a:p>
          <a:p>
            <a:r>
              <a:rPr lang="en-US" sz="3600" noProof="1"/>
              <a:t>Traiectorie: acumulare sumă a incrementelor.</a:t>
            </a:r>
          </a:p>
          <a:p>
            <a:r>
              <a:rPr lang="en-US" sz="3600" noProof="1"/>
              <a:t>Smoothing: medie mobilă (fereastră = window).</a:t>
            </a:r>
          </a:p>
          <a:p>
            <a:r>
              <a:rPr lang="en-US" sz="3600" noProof="1"/>
              <a:t>Compensare: diff = smooth − raw → warpAffine + crop (crop%).</a:t>
            </a:r>
          </a:p>
          <a:p>
            <a:r>
              <a:rPr lang="en-US" sz="3600" noProof="1"/>
              <a:t>Output: cadru stabilizat (sau side‑by‑side), overlay opțional (features, mini‑path).</a:t>
            </a:r>
            <a:br>
              <a:rPr lang="en-US" sz="3600" noProof="1"/>
            </a:br>
            <a:r>
              <a:rPr lang="en-US" sz="3600" noProof="1"/>
              <a:t>Stack: Python 3.12, OpenCV, Flask, React (MUI).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564373" y="5596824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Metode si Materiale</a:t>
            </a:r>
          </a:p>
        </p:txBody>
      </p:sp>
      <p:sp>
        <p:nvSpPr>
          <p:cNvPr id="12" name="Text Box 191"/>
          <p:cNvSpPr txBox="1">
            <a:spLocks noChangeArrowheads="1"/>
          </p:cNvSpPr>
          <p:nvPr/>
        </p:nvSpPr>
        <p:spPr bwMode="auto">
          <a:xfrm>
            <a:off x="20178184" y="17385160"/>
            <a:ext cx="8407576" cy="8107247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Avantaje: implementare simplă, rapidă, parametri intuitivi, diagnostic vizual integrat. Modelul afin parțial limitează artefactele de perspectivă față de homografie instabilă în scene cu parallax. Limitări: blur sever, puține texturi, obiect mare în prim-plan, rotații bruște, rolling shutter (necorectat). Smoothing rectangular poate introduce întârziere la schimbări reale de direcție. Posibilitate extindere: ORB + homografie adaptivă, filtru Kalman / Savitzky–Golay, detectare outlier frames, GPU acceleration.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78184" y="16493613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Discutie</a:t>
            </a:r>
          </a:p>
        </p:txBody>
      </p:sp>
      <p:sp>
        <p:nvSpPr>
          <p:cNvPr id="14" name="Text Box 193"/>
          <p:cNvSpPr txBox="1">
            <a:spLocks noChangeArrowheads="1"/>
          </p:cNvSpPr>
          <p:nvPr/>
        </p:nvSpPr>
        <p:spPr bwMode="auto">
          <a:xfrm>
            <a:off x="20178184" y="27637946"/>
            <a:ext cx="8407576" cy="8107247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Pipeline-ul atinge obiectivul: reducere semnificativă a jitter-ului cu cost computațional moderat și fără deformări evidente. Structura modulară permite integrarea rapidă a unor modele mai complexe (homografie, multi‑plan). Exportul de statistici oferă trasabilitate și bază pentru monitorizarea calității. </a:t>
            </a:r>
          </a:p>
          <a:p>
            <a:endParaRPr lang="en-US" sz="3600" noProof="1"/>
          </a:p>
          <a:p>
            <a:r>
              <a:rPr lang="en-US" sz="3600" noProof="1"/>
              <a:t>Direcții viitoare si imbunatatiri ulterioare</a:t>
            </a:r>
          </a:p>
          <a:p>
            <a:r>
              <a:rPr lang="en-US" sz="3600" noProof="1"/>
              <a:t>smoothing avansat, fallback dinamic affine/homography, optimizare performanță.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78184" y="26746399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Conclusions</a:t>
            </a:r>
          </a:p>
        </p:txBody>
      </p:sp>
      <p:sp>
        <p:nvSpPr>
          <p:cNvPr id="11" name="Text Box 190"/>
          <p:cNvSpPr txBox="1">
            <a:spLocks noChangeArrowheads="1"/>
          </p:cNvSpPr>
          <p:nvPr/>
        </p:nvSpPr>
        <p:spPr bwMode="auto">
          <a:xfrm>
            <a:off x="1111510" y="18297679"/>
            <a:ext cx="8407576" cy="7553249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Problema: filmările mobile au jitter de frecvență înaltă care degradează lizibilitatea și analiza ulterioară. Abordări clasice: hardware gimbal, senzori inerțiali, stabilizare software (model transform + smoothing). Obiectiv: soluție software pură, rapidă, configurabilă, cu diagnostic vizual și export de statistici. Contribuție: pipeline clar, parametri puțini, extensibil spre homografie/filtre avansate.</a:t>
            </a:r>
          </a:p>
          <a:p>
            <a:br>
              <a:rPr lang="en-US" sz="3600" noProof="1"/>
            </a:br>
            <a:endParaRPr lang="en-US" sz="3600" noProof="1"/>
          </a:p>
        </p:txBody>
      </p:sp>
      <p:sp>
        <p:nvSpPr>
          <p:cNvPr id="45" name="Rectangle 44"/>
          <p:cNvSpPr/>
          <p:nvPr/>
        </p:nvSpPr>
        <p:spPr>
          <a:xfrm>
            <a:off x="10659390" y="18738958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Rezulate experiment</a:t>
            </a:r>
          </a:p>
        </p:txBody>
      </p:sp>
      <p:pic>
        <p:nvPicPr>
          <p:cNvPr id="1028" name="Picture 4" descr="Facultatea de Automatică și Calculatoare din Iași te pregătește pentru  admitere - Blog Adservio">
            <a:extLst>
              <a:ext uri="{FF2B5EF4-FFF2-40B4-BE49-F238E27FC236}">
                <a16:creationId xmlns:a16="http://schemas.microsoft.com/office/drawing/2014/main" id="{96029DE9-FEAC-40C6-EB6F-021173467D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620" y="1267940"/>
            <a:ext cx="4481796" cy="2521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57FE8D9E-6C02-3802-246B-9714ADB03E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24882052"/>
              </p:ext>
            </p:extLst>
          </p:nvPr>
        </p:nvGraphicFramePr>
        <p:xfrm>
          <a:off x="1111510" y="26769655"/>
          <a:ext cx="5070970" cy="50660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2D02DDE-593A-4ECA-74F2-8F66713912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8637" y="32141319"/>
            <a:ext cx="5070969" cy="507096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156E43-BBA6-5CC9-B670-D6210788D8E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337426" y="5623719"/>
            <a:ext cx="10099366" cy="10424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251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2617</TotalTime>
  <Words>697</Words>
  <Application>Microsoft Office PowerPoint</Application>
  <PresentationFormat>Custom</PresentationFormat>
  <Paragraphs>45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Theme</vt:lpstr>
      <vt:lpstr>PowerPoint Presentation</vt:lpstr>
    </vt:vector>
  </TitlesOfParts>
  <Company>Genigraphics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Genigraphics Research Poster Template A0/A1</dc:title>
  <dc:creator>Jay Larson</dc:creator>
  <dc:description>Quality poster printing
www.genigraphics.com
1-800-790-4001</dc:description>
  <cp:lastModifiedBy>Costi</cp:lastModifiedBy>
  <cp:revision>67</cp:revision>
  <cp:lastPrinted>2013-02-12T02:21:55Z</cp:lastPrinted>
  <dcterms:created xsi:type="dcterms:W3CDTF">2013-02-10T21:14:48Z</dcterms:created>
  <dcterms:modified xsi:type="dcterms:W3CDTF">2025-09-04T04:56:24Z</dcterms:modified>
</cp:coreProperties>
</file>