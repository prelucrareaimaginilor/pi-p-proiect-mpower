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</p:sldIdLst>
  <p:sldSz cx="30267275" cy="42794238"/>
  <p:notesSz cx="7004050" cy="92900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60" autoAdjust="0"/>
    <p:restoredTop sz="94676" autoAdjust="0"/>
  </p:normalViewPr>
  <p:slideViewPr>
    <p:cSldViewPr>
      <p:cViewPr varScale="1">
        <p:scale>
          <a:sx n="18" d="100"/>
          <a:sy n="18" d="100"/>
        </p:scale>
        <p:origin x="2856" y="114"/>
      </p:cViewPr>
      <p:guideLst>
        <p:guide orient="horz" pos="13479"/>
        <p:guide pos="95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0"/>
    <c:plotArea>
      <c:layout>
        <c:manualLayout>
          <c:layoutTarget val="inner"/>
          <c:xMode val="edge"/>
          <c:yMode val="edge"/>
          <c:x val="6.1774880179495256E-2"/>
          <c:y val="3.3002533313192299E-2"/>
          <c:w val="0.77826212929862304"/>
          <c:h val="0.912115081261654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D4-9349-84AB-00A1596E06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D4-9349-84AB-00A1596E06D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7D4-9349-84AB-00A1596E06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93736960"/>
        <c:axId val="93738496"/>
      </c:barChart>
      <c:catAx>
        <c:axId val="93736960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93738496"/>
        <c:crosses val="autoZero"/>
        <c:auto val="1"/>
        <c:lblAlgn val="ctr"/>
        <c:lblOffset val="100"/>
        <c:noMultiLvlLbl val="0"/>
      </c:catAx>
      <c:valAx>
        <c:axId val="93738496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93736960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0.46995412232967032"/>
          <c:y val="0.86382178649345376"/>
          <c:w val="0.12673105779834759"/>
          <c:h val="0.13093403232636405"/>
        </c:manualLayout>
      </c:layout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userShapes r:id="rId2"/>
</c:chartSpace>
</file>

<file path=ppt/drawing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4.png"/></Relationships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</cdr:x>
      <cdr:y>0</cdr:y>
    </cdr:from>
    <cdr:to>
      <cdr:x>0.99779</cdr:x>
      <cdr:y>1</cdr:y>
    </cdr:to>
    <cdr:pic>
      <cdr:nvPicPr>
        <cdr:cNvPr id="3" name="Picture 2">
          <a:extLst xmlns:a="http://schemas.openxmlformats.org/drawingml/2006/main">
            <a:ext uri="{FF2B5EF4-FFF2-40B4-BE49-F238E27FC236}">
              <a16:creationId xmlns:a16="http://schemas.microsoft.com/office/drawing/2014/main" id="{A5C6F9E8-86CB-2F75-7219-AE4207DF3276}"/>
            </a:ext>
          </a:extLst>
        </cdr:cNvPr>
        <cdr:cNvPicPr>
          <a:picLocks xmlns:a="http://schemas.openxmlformats.org/drawingml/2006/main" noChangeAspect="1"/>
        </cdr:cNvPicPr>
      </cdr:nvPicPr>
      <cdr:blipFill>
        <a:blip xmlns:a="http://schemas.openxmlformats.org/drawingml/2006/main" xmlns:r="http://schemas.openxmlformats.org/officeDocument/2006/relationships" r:embed="rId1"/>
        <a:stretch xmlns:a="http://schemas.openxmlformats.org/drawingml/2006/main">
          <a:fillRect/>
        </a:stretch>
      </cdr:blipFill>
      <cdr:spPr>
        <a:xfrm xmlns:a="http://schemas.openxmlformats.org/drawingml/2006/main">
          <a:off x="0" y="0"/>
          <a:ext cx="5059749" cy="5066021"/>
        </a:xfrm>
        <a:prstGeom xmlns:a="http://schemas.openxmlformats.org/drawingml/2006/main" prst="rect">
          <a:avLst/>
        </a:prstGeom>
        <a:effectLst xmlns:a="http://schemas.openxmlformats.org/drawingml/2006/main">
          <a:outerShdw blurRad="50800" dist="38100" dir="10800000" algn="r" rotWithShape="0">
            <a:prstClr val="black">
              <a:alpha val="40000"/>
            </a:prstClr>
          </a:outerShdw>
        </a:effectLst>
      </cdr:spPr>
    </cdr:pic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" y="4754918"/>
            <a:ext cx="22694544" cy="332844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23013912" y="4754918"/>
            <a:ext cx="7262256" cy="33284414"/>
          </a:xfrm>
          <a:prstGeom prst="rect">
            <a:avLst/>
          </a:prstGeom>
          <a:solidFill>
            <a:srgbClr val="C3C3C3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55953" y="8102376"/>
            <a:ext cx="18160365" cy="20312998"/>
          </a:xfrm>
        </p:spPr>
        <p:txBody>
          <a:bodyPr anchor="b">
            <a:normAutofit/>
          </a:bodyPr>
          <a:lstStyle>
            <a:lvl1pPr algn="l">
              <a:defRPr sz="17875" spc="-331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30844" y="29142552"/>
            <a:ext cx="18160365" cy="5705898"/>
          </a:xfrm>
        </p:spPr>
        <p:txBody>
          <a:bodyPr anchor="t">
            <a:normAutofit/>
          </a:bodyPr>
          <a:lstStyle>
            <a:lvl1pPr marL="0" indent="0" algn="l">
              <a:buNone/>
              <a:defRPr sz="662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1513378" indent="0" algn="ctr">
              <a:buNone/>
              <a:defRPr sz="6620"/>
            </a:lvl2pPr>
            <a:lvl3pPr marL="3026755" indent="0" algn="ctr">
              <a:buNone/>
              <a:defRPr sz="6620"/>
            </a:lvl3pPr>
            <a:lvl4pPr marL="4540133" indent="0" algn="ctr">
              <a:buNone/>
              <a:defRPr sz="6620"/>
            </a:lvl4pPr>
            <a:lvl5pPr marL="6053511" indent="0" algn="ctr">
              <a:buNone/>
              <a:defRPr sz="6620"/>
            </a:lvl5pPr>
            <a:lvl6pPr marL="7566889" indent="0" algn="ctr">
              <a:buNone/>
              <a:defRPr sz="6620"/>
            </a:lvl6pPr>
            <a:lvl7pPr marL="9080266" indent="0" algn="ctr">
              <a:buNone/>
              <a:defRPr sz="6620"/>
            </a:lvl7pPr>
            <a:lvl8pPr marL="10593644" indent="0" algn="ctr">
              <a:buNone/>
              <a:defRPr sz="6620"/>
            </a:lvl8pPr>
            <a:lvl9pPr marL="12107022" indent="0" algn="ctr">
              <a:buNone/>
              <a:defRPr sz="66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780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742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02293" y="8102376"/>
            <a:ext cx="18160365" cy="20312998"/>
          </a:xfrm>
        </p:spPr>
        <p:txBody>
          <a:bodyPr anchor="b">
            <a:normAutofit/>
          </a:bodyPr>
          <a:lstStyle>
            <a:lvl1pPr>
              <a:defRPr sz="17875" b="0" spc="-33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47694" y="29157141"/>
            <a:ext cx="18160365" cy="5705898"/>
          </a:xfrm>
        </p:spPr>
        <p:txBody>
          <a:bodyPr anchor="t">
            <a:normAutofit/>
          </a:bodyPr>
          <a:lstStyle>
            <a:lvl1pPr marL="0" indent="0">
              <a:buNone/>
              <a:defRPr sz="662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1513378" indent="0">
              <a:buNone/>
              <a:defRPr sz="5958">
                <a:solidFill>
                  <a:schemeClr val="tx1">
                    <a:tint val="75000"/>
                  </a:schemeClr>
                </a:solidFill>
              </a:defRPr>
            </a:lvl2pPr>
            <a:lvl3pPr marL="3026755" indent="0">
              <a:buNone/>
              <a:defRPr sz="5296">
                <a:solidFill>
                  <a:schemeClr val="tx1">
                    <a:tint val="75000"/>
                  </a:schemeClr>
                </a:solidFill>
              </a:defRPr>
            </a:lvl3pPr>
            <a:lvl4pPr marL="4540133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4pPr>
            <a:lvl5pPr marL="6053511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5pPr>
            <a:lvl6pPr marL="7566889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6pPr>
            <a:lvl7pPr marL="9080266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7pPr>
            <a:lvl8pPr marL="10593644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8pPr>
            <a:lvl9pPr marL="12107022" indent="0">
              <a:buNone/>
              <a:defRPr sz="46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1076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02293" y="5420604"/>
            <a:ext cx="8626173" cy="31953031"/>
          </a:xfrm>
        </p:spPr>
        <p:txBody>
          <a:bodyPr/>
          <a:lstStyle>
            <a:lvl1pPr>
              <a:defRPr sz="6289"/>
            </a:lvl1pPr>
            <a:lvl2pPr>
              <a:defRPr sz="5627"/>
            </a:lvl2pPr>
            <a:lvl3pPr>
              <a:defRPr sz="4965"/>
            </a:lvl3pPr>
            <a:lvl4pPr>
              <a:defRPr sz="4303"/>
            </a:lvl4pPr>
            <a:lvl5pPr>
              <a:defRPr sz="4303"/>
            </a:lvl5pPr>
            <a:lvl6pPr>
              <a:defRPr sz="4303"/>
            </a:lvl6pPr>
            <a:lvl7pPr>
              <a:defRPr sz="4303"/>
            </a:lvl7pPr>
            <a:lvl8pPr>
              <a:defRPr sz="4303"/>
            </a:lvl8pPr>
            <a:lvl9pPr>
              <a:defRPr sz="430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08890" y="5420604"/>
            <a:ext cx="8626173" cy="31953031"/>
          </a:xfrm>
        </p:spPr>
        <p:txBody>
          <a:bodyPr/>
          <a:lstStyle>
            <a:lvl1pPr>
              <a:defRPr sz="6289"/>
            </a:lvl1pPr>
            <a:lvl2pPr>
              <a:defRPr sz="5627"/>
            </a:lvl2pPr>
            <a:lvl3pPr>
              <a:defRPr sz="4965"/>
            </a:lvl3pPr>
            <a:lvl4pPr>
              <a:defRPr sz="4303"/>
            </a:lvl4pPr>
            <a:lvl5pPr>
              <a:defRPr sz="4303"/>
            </a:lvl5pPr>
            <a:lvl6pPr>
              <a:defRPr sz="4303"/>
            </a:lvl6pPr>
            <a:lvl7pPr>
              <a:defRPr sz="4303"/>
            </a:lvl7pPr>
            <a:lvl8pPr>
              <a:defRPr sz="4303"/>
            </a:lvl8pPr>
            <a:lvl9pPr>
              <a:defRPr sz="430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08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2293" y="6387224"/>
            <a:ext cx="8626173" cy="504021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6289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1513378" indent="0">
              <a:buNone/>
              <a:defRPr sz="6289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02293" y="12049130"/>
            <a:ext cx="8626173" cy="25105953"/>
          </a:xfrm>
        </p:spPr>
        <p:txBody>
          <a:bodyPr/>
          <a:lstStyle>
            <a:lvl1pPr>
              <a:defRPr sz="6289"/>
            </a:lvl1pPr>
            <a:lvl2pPr>
              <a:defRPr sz="5627"/>
            </a:lvl2pPr>
            <a:lvl3pPr>
              <a:defRPr sz="4965"/>
            </a:lvl3pPr>
            <a:lvl4pPr>
              <a:defRPr sz="4303"/>
            </a:lvl4pPr>
            <a:lvl5pPr>
              <a:defRPr sz="4303"/>
            </a:lvl5pPr>
            <a:lvl6pPr>
              <a:defRPr sz="4303"/>
            </a:lvl6pPr>
            <a:lvl7pPr>
              <a:defRPr sz="4303"/>
            </a:lvl7pPr>
            <a:lvl8pPr>
              <a:defRPr sz="4303"/>
            </a:lvl8pPr>
            <a:lvl9pPr>
              <a:defRPr sz="430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409741" y="6387233"/>
            <a:ext cx="8626173" cy="5074225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6289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1513378" indent="0">
              <a:buNone/>
              <a:defRPr sz="6289" b="1"/>
            </a:lvl2pPr>
            <a:lvl3pPr marL="3026755" indent="0">
              <a:buNone/>
              <a:defRPr sz="5958" b="1"/>
            </a:lvl3pPr>
            <a:lvl4pPr marL="4540133" indent="0">
              <a:buNone/>
              <a:defRPr sz="5296" b="1"/>
            </a:lvl4pPr>
            <a:lvl5pPr marL="6053511" indent="0">
              <a:buNone/>
              <a:defRPr sz="5296" b="1"/>
            </a:lvl5pPr>
            <a:lvl6pPr marL="7566889" indent="0">
              <a:buNone/>
              <a:defRPr sz="5296" b="1"/>
            </a:lvl6pPr>
            <a:lvl7pPr marL="9080266" indent="0">
              <a:buNone/>
              <a:defRPr sz="5296" b="1"/>
            </a:lvl7pPr>
            <a:lvl8pPr marL="10593644" indent="0">
              <a:buNone/>
              <a:defRPr sz="5296" b="1"/>
            </a:lvl8pPr>
            <a:lvl9pPr marL="12107022" indent="0">
              <a:buNone/>
              <a:defRPr sz="529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409741" y="12049130"/>
            <a:ext cx="8626173" cy="25105953"/>
          </a:xfrm>
        </p:spPr>
        <p:txBody>
          <a:bodyPr/>
          <a:lstStyle>
            <a:lvl1pPr>
              <a:defRPr sz="6289"/>
            </a:lvl1pPr>
            <a:lvl2pPr>
              <a:defRPr sz="5627"/>
            </a:lvl2pPr>
            <a:lvl3pPr>
              <a:defRPr sz="4965"/>
            </a:lvl3pPr>
            <a:lvl4pPr>
              <a:defRPr sz="4303"/>
            </a:lvl4pPr>
            <a:lvl5pPr>
              <a:defRPr sz="4303"/>
            </a:lvl5pPr>
            <a:lvl6pPr>
              <a:defRPr sz="4303"/>
            </a:lvl6pPr>
            <a:lvl7pPr>
              <a:defRPr sz="4303"/>
            </a:lvl7pPr>
            <a:lvl8pPr>
              <a:defRPr sz="4303"/>
            </a:lvl8pPr>
            <a:lvl9pPr>
              <a:defRPr sz="430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871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914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012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5613" y="7132373"/>
            <a:ext cx="7037141" cy="13694156"/>
          </a:xfrm>
        </p:spPr>
        <p:txBody>
          <a:bodyPr anchor="b">
            <a:normAutofit/>
          </a:bodyPr>
          <a:lstStyle>
            <a:lvl1pPr>
              <a:defRPr sz="9268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02293" y="5420604"/>
            <a:ext cx="18160365" cy="31953031"/>
          </a:xfrm>
        </p:spPr>
        <p:txBody>
          <a:bodyPr/>
          <a:lstStyle>
            <a:lvl1pPr>
              <a:defRPr sz="6620"/>
            </a:lvl1pPr>
            <a:lvl2pPr>
              <a:defRPr sz="5958"/>
            </a:lvl2pPr>
            <a:lvl3pPr>
              <a:defRPr sz="5296"/>
            </a:lvl3pPr>
            <a:lvl4pPr>
              <a:defRPr sz="4634"/>
            </a:lvl4pPr>
            <a:lvl5pPr>
              <a:defRPr sz="4634"/>
            </a:lvl5pPr>
            <a:lvl6pPr>
              <a:defRPr sz="4634"/>
            </a:lvl6pPr>
            <a:lvl7pPr>
              <a:defRPr sz="4634"/>
            </a:lvl7pPr>
            <a:lvl8pPr>
              <a:defRPr sz="4634"/>
            </a:lvl8pPr>
            <a:lvl9pPr>
              <a:defRPr sz="4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5613" y="20826529"/>
            <a:ext cx="7037141" cy="1597651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2648"/>
              </a:spcBef>
              <a:buNone/>
              <a:defRPr sz="4138">
                <a:solidFill>
                  <a:srgbClr val="FFFFFF"/>
                </a:solidFill>
              </a:defRPr>
            </a:lvl1pPr>
            <a:lvl2pPr marL="1513378" indent="0">
              <a:buNone/>
              <a:defRPr sz="3972"/>
            </a:lvl2pPr>
            <a:lvl3pPr marL="3026755" indent="0">
              <a:buNone/>
              <a:defRPr sz="3310"/>
            </a:lvl3pPr>
            <a:lvl4pPr marL="4540133" indent="0">
              <a:buNone/>
              <a:defRPr sz="2979"/>
            </a:lvl4pPr>
            <a:lvl5pPr marL="6053511" indent="0">
              <a:buNone/>
              <a:defRPr sz="2979"/>
            </a:lvl5pPr>
            <a:lvl6pPr marL="7566889" indent="0">
              <a:buNone/>
              <a:defRPr sz="2979"/>
            </a:lvl6pPr>
            <a:lvl7pPr marL="9080266" indent="0">
              <a:buNone/>
              <a:defRPr sz="2979"/>
            </a:lvl7pPr>
            <a:lvl8pPr marL="10593644" indent="0">
              <a:buNone/>
              <a:defRPr sz="2979"/>
            </a:lvl8pPr>
            <a:lvl9pPr marL="12107022" indent="0">
              <a:buNone/>
              <a:defRPr sz="297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1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5613" y="7132373"/>
            <a:ext cx="7037141" cy="13694156"/>
          </a:xfrm>
        </p:spPr>
        <p:txBody>
          <a:bodyPr anchor="b">
            <a:normAutofit/>
          </a:bodyPr>
          <a:lstStyle>
            <a:lvl1pPr>
              <a:defRPr sz="9268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64311" y="4788730"/>
            <a:ext cx="20146483" cy="33265388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10592"/>
            </a:lvl1pPr>
            <a:lvl2pPr marL="1513378" indent="0">
              <a:buNone/>
              <a:defRPr sz="9268"/>
            </a:lvl2pPr>
            <a:lvl3pPr marL="3026755" indent="0">
              <a:buNone/>
              <a:defRPr sz="7944"/>
            </a:lvl3pPr>
            <a:lvl4pPr marL="4540133" indent="0">
              <a:buNone/>
              <a:defRPr sz="6620"/>
            </a:lvl4pPr>
            <a:lvl5pPr marL="6053511" indent="0">
              <a:buNone/>
              <a:defRPr sz="6620"/>
            </a:lvl5pPr>
            <a:lvl6pPr marL="7566889" indent="0">
              <a:buNone/>
              <a:defRPr sz="6620"/>
            </a:lvl6pPr>
            <a:lvl7pPr marL="9080266" indent="0">
              <a:buNone/>
              <a:defRPr sz="6620"/>
            </a:lvl7pPr>
            <a:lvl8pPr marL="10593644" indent="0">
              <a:buNone/>
              <a:defRPr sz="6620"/>
            </a:lvl8pPr>
            <a:lvl9pPr marL="12107022" indent="0">
              <a:buNone/>
              <a:defRPr sz="66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5613" y="20845511"/>
            <a:ext cx="7037141" cy="1597651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spcBef>
                <a:spcPts val="2648"/>
              </a:spcBef>
              <a:buNone/>
              <a:defRPr sz="4138">
                <a:solidFill>
                  <a:srgbClr val="FFFFFF"/>
                </a:solidFill>
              </a:defRPr>
            </a:lvl1pPr>
            <a:lvl2pPr marL="1513378" indent="0">
              <a:buNone/>
              <a:defRPr sz="3972"/>
            </a:lvl2pPr>
            <a:lvl3pPr marL="3026755" indent="0">
              <a:buNone/>
              <a:defRPr sz="3310"/>
            </a:lvl3pPr>
            <a:lvl4pPr marL="4540133" indent="0">
              <a:buNone/>
              <a:defRPr sz="2979"/>
            </a:lvl4pPr>
            <a:lvl5pPr marL="6053511" indent="0">
              <a:buNone/>
              <a:defRPr sz="2979"/>
            </a:lvl5pPr>
            <a:lvl6pPr marL="7566889" indent="0">
              <a:buNone/>
              <a:defRPr sz="2979"/>
            </a:lvl6pPr>
            <a:lvl7pPr marL="9080266" indent="0">
              <a:buNone/>
              <a:defRPr sz="2979"/>
            </a:lvl7pPr>
            <a:lvl8pPr marL="10593644" indent="0">
              <a:buNone/>
              <a:defRPr sz="2979"/>
            </a:lvl8pPr>
            <a:lvl9pPr marL="12107022" indent="0">
              <a:buNone/>
              <a:defRPr sz="297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686701" y="39663928"/>
            <a:ext cx="14675650" cy="227839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444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200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5853" y="6181390"/>
            <a:ext cx="6999307" cy="309069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602293" y="5420604"/>
            <a:ext cx="18160365" cy="3195303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2802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29426517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0"/>
            <a:ext cx="840758" cy="427942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30267275" cy="534927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0" y="37444959"/>
            <a:ext cx="30267275" cy="53492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endParaRPr lang="en-US" dirty="0"/>
          </a:p>
        </p:txBody>
      </p:sp>
      <p:sp>
        <p:nvSpPr>
          <p:cNvPr id="9" name="Instructions"/>
          <p:cNvSpPr/>
          <p:nvPr userDrawn="1"/>
        </p:nvSpPr>
        <p:spPr>
          <a:xfrm>
            <a:off x="-12611365" y="0"/>
            <a:ext cx="11770607" cy="4279423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7425" tIns="217425" rIns="217425" bIns="217425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88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set up for A0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international paper size of 1189 mm x 841 mm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(46.8” high by 33.1” wide). It can be printed at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70.6% for an A1 poster of 841 mm x 594 mm.</a:t>
            </a:r>
            <a:endParaRPr lang="en-US" sz="60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88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8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60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60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2282"/>
              </a:spcAft>
            </a:pPr>
            <a:r>
              <a:rPr lang="en-US" sz="60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2282"/>
              </a:spcAft>
            </a:pPr>
            <a:b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44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08033" y="0"/>
            <a:ext cx="11770607" cy="42794238"/>
            <a:chOff x="33832800" y="0"/>
            <a:chExt cx="12801600" cy="43891200"/>
          </a:xfrm>
        </p:grpSpPr>
        <p:sp>
          <p:nvSpPr>
            <p:cNvPr id="13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88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88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8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60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delivery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2282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60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International: +(1) 913-441-1410</a:t>
              </a:r>
              <a:b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60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44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14" name="Picture 13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8425085"/>
              <a:ext cx="11904515" cy="10246926"/>
            </a:xfrm>
            <a:prstGeom prst="rect">
              <a:avLst/>
            </a:prstGeom>
          </p:spPr>
        </p:pic>
      </p:grp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1037" y="42504519"/>
            <a:ext cx="5297435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308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" y="4735896"/>
            <a:ext cx="8548893" cy="332653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884" y="7012804"/>
            <a:ext cx="7317279" cy="28711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29333498" y="4735896"/>
            <a:ext cx="953419" cy="33265388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05659" y="5392074"/>
            <a:ext cx="18160365" cy="319530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1584" y="39663928"/>
            <a:ext cx="6810137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1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9/4/2025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605659" y="39663928"/>
            <a:ext cx="14675650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1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6399798" y="39663928"/>
            <a:ext cx="3800605" cy="22783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41" b="1">
                <a:solidFill>
                  <a:schemeClr val="accent1"/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4989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</p:sldLayoutIdLst>
  <p:txStyles>
    <p:titleStyle>
      <a:lvl1pPr algn="l" defTabSz="3026755" rtl="0" eaLnBrk="1" latinLnBrk="0" hangingPunct="1">
        <a:lnSpc>
          <a:spcPct val="90000"/>
        </a:lnSpc>
        <a:spcBef>
          <a:spcPct val="0"/>
        </a:spcBef>
        <a:buNone/>
        <a:defRPr sz="9930" kern="1200" spc="-199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605351" indent="-605351" algn="l" defTabSz="3026755" rtl="0" eaLnBrk="1" latinLnBrk="0" hangingPunct="1">
        <a:lnSpc>
          <a:spcPct val="90000"/>
        </a:lnSpc>
        <a:spcBef>
          <a:spcPts val="3972"/>
        </a:spcBef>
        <a:buClr>
          <a:schemeClr val="accent1"/>
        </a:buClr>
        <a:buFont typeface="Wingdings 2" pitchFamily="18" charset="2"/>
        <a:buChar char=""/>
        <a:defRPr sz="6289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2270067" indent="-605351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5627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3783444" indent="-605351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965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5296822" indent="-605351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6810200" indent="-605351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8323577" indent="-756689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9836955" indent="-756689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1350333" indent="-756689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2863711" indent="-756689" algn="l" defTabSz="3026755" rtl="0" eaLnBrk="1" latinLnBrk="0" hangingPunct="1">
        <a:lnSpc>
          <a:spcPct val="90000"/>
        </a:lnSpc>
        <a:spcBef>
          <a:spcPts val="828"/>
        </a:spcBef>
        <a:spcAft>
          <a:spcPts val="828"/>
        </a:spcAft>
        <a:buClr>
          <a:schemeClr val="accent1"/>
        </a:buClr>
        <a:buFont typeface="Wingdings 2" pitchFamily="18" charset="2"/>
        <a:buChar char=""/>
        <a:defRPr sz="4303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1pPr>
      <a:lvl2pPr marL="1513378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2pPr>
      <a:lvl3pPr marL="3026755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3pPr>
      <a:lvl4pPr marL="4540133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4pPr>
      <a:lvl5pPr marL="6053511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5pPr>
      <a:lvl6pPr marL="7566889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6pPr>
      <a:lvl7pPr marL="9080266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7pPr>
      <a:lvl8pPr marL="10593644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8pPr>
      <a:lvl9pPr marL="12107022" algn="l" defTabSz="3026755" rtl="0" eaLnBrk="1" latinLnBrk="0" hangingPunct="1">
        <a:defRPr sz="59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3997289" y="2204332"/>
            <a:ext cx="21117102" cy="42637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73940" tIns="434850" rIns="173940" bIns="434850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7200" b="1" noProof="1">
                <a:solidFill>
                  <a:schemeClr val="bg1"/>
                </a:solidFill>
              </a:rPr>
              <a:t>Stabilizer Video Monoculară în Timp Aproape Real cu ORB + Homografie și Netezire Adaptivă</a:t>
            </a:r>
            <a:endParaRPr lang="en-US" sz="7200" noProof="1">
              <a:solidFill>
                <a:schemeClr val="bg1"/>
              </a:solidFill>
            </a:endParaRPr>
          </a:p>
          <a:p>
            <a:pPr algn="ctr" eaLnBrk="1" hangingPunct="1"/>
            <a:endParaRPr lang="en-US" sz="7600" b="1" noProof="1">
              <a:solidFill>
                <a:schemeClr val="accent3">
                  <a:lumMod val="20000"/>
                  <a:lumOff val="80000"/>
                </a:schemeClr>
              </a:solidFill>
              <a:latin typeface="+mn-l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261136" y="39049741"/>
            <a:ext cx="5500430" cy="193447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3000" noProof="1"/>
              <a:t>CIOBANU CONSTANTIN-MARCU</a:t>
            </a:r>
          </a:p>
          <a:p>
            <a:r>
              <a:rPr lang="en-US" sz="3000" noProof="1"/>
              <a:t>BUTCO DUMITRU-CONSTANTIN</a:t>
            </a:r>
          </a:p>
          <a:p>
            <a:r>
              <a:rPr lang="en-US" sz="3000" noProof="1"/>
              <a:t>Prod Indr.</a:t>
            </a:r>
          </a:p>
          <a:p>
            <a:r>
              <a:rPr lang="en-US" sz="3000" noProof="1"/>
              <a:t>Pula mea in Gura ei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33638" y="39049741"/>
            <a:ext cx="13452122" cy="2852949"/>
          </a:xfrm>
          <a:prstGeom prst="rect">
            <a:avLst/>
          </a:prstGeom>
          <a:noFill/>
        </p:spPr>
        <p:txBody>
          <a:bodyPr wrap="square" lIns="86970" tIns="86970" rIns="86970" bIns="86970" numCol="1" spcCol="434850" rtlCol="0">
            <a:noAutofit/>
          </a:bodyPr>
          <a:lstStyle/>
          <a:p>
            <a:r>
              <a:rPr lang="en-US" b="1" dirty="0" err="1"/>
              <a:t>Referințe</a:t>
            </a:r>
            <a:r>
              <a:rPr lang="en-US" b="1" dirty="0"/>
              <a:t> (</a:t>
            </a:r>
            <a:r>
              <a:rPr lang="en-US" b="1" dirty="0" err="1"/>
              <a:t>selectiv</a:t>
            </a:r>
            <a:r>
              <a:rPr lang="en-US" b="1" dirty="0"/>
              <a:t>, </a:t>
            </a:r>
            <a:r>
              <a:rPr lang="en-US" b="1" dirty="0" err="1"/>
              <a:t>în</a:t>
            </a:r>
            <a:r>
              <a:rPr lang="en-US" b="1" dirty="0"/>
              <a:t> format </a:t>
            </a:r>
            <a:r>
              <a:rPr lang="en-US" b="1" dirty="0" err="1"/>
              <a:t>scurt</a:t>
            </a:r>
            <a:r>
              <a:rPr lang="en-US" b="1" dirty="0"/>
              <a:t>):</a:t>
            </a:r>
            <a:endParaRPr lang="en-US" dirty="0"/>
          </a:p>
          <a:p>
            <a:r>
              <a:rPr lang="en-US" b="1" dirty="0"/>
              <a:t>[1] OpenCV Documentation – Feature Detection &amp; Description.</a:t>
            </a:r>
            <a:endParaRPr lang="en-US" dirty="0"/>
          </a:p>
          <a:p>
            <a:r>
              <a:rPr lang="en-US" b="1" dirty="0"/>
              <a:t>[2] Rublee et al., ORB: An Efficient Alternative to SIFT or SURF, ICCV 2011.</a:t>
            </a:r>
            <a:endParaRPr lang="en-US" dirty="0"/>
          </a:p>
          <a:p>
            <a:r>
              <a:rPr lang="en-US" b="1" dirty="0"/>
              <a:t>[3] Lowe, Distinctive Image Features from Scale-Invariant </a:t>
            </a:r>
            <a:r>
              <a:rPr lang="en-US" b="1" dirty="0" err="1"/>
              <a:t>Keypoints</a:t>
            </a:r>
            <a:r>
              <a:rPr lang="en-US" b="1" dirty="0"/>
              <a:t>, IJCV 2004.</a:t>
            </a:r>
            <a:endParaRPr lang="en-US" dirty="0"/>
          </a:p>
          <a:p>
            <a:r>
              <a:rPr lang="en-US" b="1" dirty="0"/>
              <a:t>[4] Fischler &amp; Bolles, Random Sample Consensus (RANSAC), CACM 1981.</a:t>
            </a:r>
            <a:endParaRPr lang="en-US" dirty="0"/>
          </a:p>
          <a:p>
            <a:r>
              <a:rPr lang="en-US" b="1" dirty="0"/>
              <a:t>[5] Nghia Ho – Tutorial </a:t>
            </a:r>
            <a:r>
              <a:rPr lang="en-US" b="1" dirty="0" err="1"/>
              <a:t>stabilizare</a:t>
            </a:r>
            <a:r>
              <a:rPr lang="en-US" b="1" dirty="0"/>
              <a:t> video (concept de </a:t>
            </a:r>
            <a:r>
              <a:rPr lang="en-US" b="1" dirty="0" err="1"/>
              <a:t>traiectorie</a:t>
            </a:r>
            <a:r>
              <a:rPr lang="en-US" b="1" dirty="0"/>
              <a:t> + smoothing).</a:t>
            </a:r>
            <a:endParaRPr lang="en-US" dirty="0"/>
          </a:p>
          <a:p>
            <a:r>
              <a:rPr lang="en-US" b="1" dirty="0"/>
              <a:t>[6] Lucas &amp; Kanade, Iterative Image Registration Technique, 1981 (</a:t>
            </a:r>
            <a:r>
              <a:rPr lang="en-US" b="1" dirty="0" err="1"/>
              <a:t>pentru</a:t>
            </a:r>
            <a:r>
              <a:rPr lang="en-US" b="1" dirty="0"/>
              <a:t> </a:t>
            </a:r>
            <a:r>
              <a:rPr lang="en-US" b="1" dirty="0" err="1"/>
              <a:t>comparație</a:t>
            </a:r>
            <a:r>
              <a:rPr lang="en-US" b="1" dirty="0"/>
              <a:t>).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15133638" y="37890733"/>
            <a:ext cx="3325668" cy="918816"/>
          </a:xfrm>
          <a:prstGeom prst="rect">
            <a:avLst/>
          </a:prstGeom>
          <a:noFill/>
        </p:spPr>
        <p:txBody>
          <a:bodyPr wrap="none" lIns="86970" tIns="43485" rIns="86970" bIns="43485" rtlCol="0">
            <a:spAutoFit/>
          </a:bodyPr>
          <a:lstStyle/>
          <a:p>
            <a:r>
              <a:rPr lang="en-US" sz="5400" b="1" noProof="1"/>
              <a:t>References</a:t>
            </a:r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681515" y="7132373"/>
            <a:ext cx="8407576" cy="9215242"/>
          </a:xfrm>
          <a:prstGeom prst="rect">
            <a:avLst/>
          </a:prstGeom>
          <a:ln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Proiectul prezintă un pipeline ușor de integrat pentru stabilizarea globală a videoclipurilor monoculare. Sistemul folosește detecția de caracteristici ORB, potrivire cu test de raport, estimare robustă a homografiei (RANSAC) și netezire temporală Gaussiană a traiectoriei (translație + rotație). Implementare backend (Flask + OpenCV) expusă printr‑un endpoint REST și interfață web care oferă parametri ajustabili (fereastră de netezire, crop, overlay, side‑by‑side). Rezultatul: reducerea tremuratului de cameră fără pierdere severă de detaliu și cu distorsiuni minime la margini.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81515" y="6240826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Abstract</a:t>
            </a:r>
          </a:p>
        </p:txBody>
      </p:sp>
      <p:sp>
        <p:nvSpPr>
          <p:cNvPr id="15" name="Text Box 194"/>
          <p:cNvSpPr txBox="1">
            <a:spLocks noChangeArrowheads="1"/>
          </p:cNvSpPr>
          <p:nvPr/>
        </p:nvSpPr>
        <p:spPr bwMode="auto">
          <a:xfrm>
            <a:off x="10921092" y="21397119"/>
            <a:ext cx="8407576" cy="1253922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Rezultate:</a:t>
            </a:r>
          </a:p>
          <a:p>
            <a:r>
              <a:rPr lang="en-US" sz="3600" noProof="1"/>
              <a:t>- Stabilizare vizuală: jitter redus semnificativ pe clipuri cu mișcare neregulată de mână.</a:t>
            </a:r>
          </a:p>
          <a:p>
            <a:r>
              <a:rPr lang="en-US" sz="3600" noProof="1"/>
              <a:t>- Pierdere modică la margini (crop 4–8%).</a:t>
            </a:r>
          </a:p>
          <a:p>
            <a:r>
              <a:rPr lang="en-US" sz="3600" noProof="1"/>
              <a:t>- Timp procesare: ~X fps (completați după măsurare) la scale=0.5 pe rezoluție 1280×720.</a:t>
            </a:r>
          </a:p>
          <a:p>
            <a:r>
              <a:rPr lang="en-US" sz="3600" noProof="1"/>
              <a:t>- Număr mediu potriviri valide: ~N (completați).</a:t>
            </a:r>
          </a:p>
          <a:p>
            <a:r>
              <a:rPr lang="en-US" sz="3600" noProof="1"/>
              <a:t>- Variabilitate rotație înainte vs după (σθ redusă cu ~Y%). (completați după calcul)</a:t>
            </a:r>
          </a:p>
          <a:p>
            <a:r>
              <a:rPr lang="en-US" sz="3600" noProof="1"/>
              <a:t>Figuri sugerate:</a:t>
            </a:r>
          </a:p>
          <a:p>
            <a:r>
              <a:rPr lang="en-US" sz="3600" noProof="1"/>
              <a:t>A. Cadru original vs stabilizat (side‑by‑side).</a:t>
            </a:r>
          </a:p>
          <a:p>
            <a:r>
              <a:rPr lang="en-US" sz="3600" noProof="1"/>
              <a:t>B. Grafic traiectorie brută vs netezită (dx, dy).</a:t>
            </a:r>
          </a:p>
          <a:p>
            <a:r>
              <a:rPr lang="en-US" sz="3600" noProof="1"/>
              <a:t>C. Histogramă distribuție lungimi potriviri / inliers.</a:t>
            </a:r>
          </a:p>
          <a:p>
            <a:r>
              <a:rPr lang="en-US" sz="3600" noProof="1"/>
              <a:t>D. Mini‑map traiectorie cameră.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81515" y="17855011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Introducere</a:t>
            </a:r>
          </a:p>
        </p:txBody>
      </p:sp>
      <p:sp>
        <p:nvSpPr>
          <p:cNvPr id="13" name="Text Box 192"/>
          <p:cNvSpPr txBox="1">
            <a:spLocks noChangeArrowheads="1"/>
          </p:cNvSpPr>
          <p:nvPr/>
        </p:nvSpPr>
        <p:spPr bwMode="auto">
          <a:xfrm>
            <a:off x="10929850" y="7132373"/>
            <a:ext cx="8407576" cy="1198523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1. Import frame curent și precedent.</a:t>
            </a:r>
          </a:p>
          <a:p>
            <a:r>
              <a:rPr lang="en-US" sz="3600" noProof="1"/>
              <a:t>2. ORB (nfeatures=500) → keypoints + descriptori.</a:t>
            </a:r>
          </a:p>
          <a:p>
            <a:r>
              <a:rPr lang="en-US" sz="3600" noProof="1"/>
              <a:t>3. Potrivire BF Hamming (knn k=2) + test Lowe (raport &lt; 0.75 default).</a:t>
            </a:r>
          </a:p>
          <a:p>
            <a:r>
              <a:rPr lang="en-US" sz="3600" noProof="1"/>
              <a:t>4. Filtrare potriviri → coordonate (x,y).</a:t>
            </a:r>
          </a:p>
          <a:p>
            <a:r>
              <a:rPr lang="en-US" sz="3600" noProof="1"/>
              <a:t>5. Estimare Homografie H (RANSAC, thresh=5 px) → extragere dx, dy, θ.</a:t>
            </a:r>
          </a:p>
          <a:p>
            <a:r>
              <a:rPr lang="en-US" sz="3600" noProof="1"/>
              <a:t>6. Construire traiectorie cumulativă.</a:t>
            </a:r>
          </a:p>
          <a:p>
            <a:r>
              <a:rPr lang="en-US" sz="3600" noProof="1"/>
              <a:t>7. Netezire Gaussiană (kernel adaptat la radius).</a:t>
            </a:r>
          </a:p>
          <a:p>
            <a:r>
              <a:rPr lang="en-US" sz="3600" noProof="1"/>
              <a:t>8. Calcul corecție = smoothed − raw → matrice compensare → warpAffine / warpPerspective (dacă se extinde).</a:t>
            </a:r>
          </a:p>
          <a:p>
            <a:r>
              <a:rPr lang="en-US" sz="3600" noProof="1"/>
              <a:t>9. Crop protectiv (4%) + redimensionare.</a:t>
            </a:r>
          </a:p>
          <a:p>
            <a:r>
              <a:rPr lang="en-US" sz="3600" noProof="1"/>
              <a:t>10. Opțional: overlay (features, traiectorie mini‑map), output side‑by‑side.</a:t>
            </a:r>
          </a:p>
          <a:p>
            <a:r>
              <a:rPr lang="en-US" sz="3600" noProof="1"/>
              <a:t>Stack: Python 3.12, OpenCV, Flask, React (frontend), MUI.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29850" y="6240826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Metode si Materiale</a:t>
            </a:r>
          </a:p>
        </p:txBody>
      </p:sp>
      <p:sp>
        <p:nvSpPr>
          <p:cNvPr id="12" name="Text Box 191"/>
          <p:cNvSpPr txBox="1">
            <a:spLocks noChangeArrowheads="1"/>
          </p:cNvSpPr>
          <p:nvPr/>
        </p:nvSpPr>
        <p:spPr bwMode="auto">
          <a:xfrm>
            <a:off x="20178184" y="17385160"/>
            <a:ext cx="8407576" cy="8107247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Modelul pe bază de homografie gestionează efecte de perspectivă moderate mai bine decât un simplu affine. Limitări: parallax puternic (scene cu profunzime mare și obiecte apropiate), ocluzii rapide, motion blur sever → pierdere feature. Netezirea Gaussiană nu impune constrângeri dinamice (posibil overshoot). Posibile îmbunătățiri: filtrare Kalman / spline smoothing, segmentare plană (multi‑model), detectare frame outlier și keyframe locking, propagare mascată pe zone dinamice.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78184" y="16493613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Discutie</a:t>
            </a:r>
          </a:p>
        </p:txBody>
      </p:sp>
      <p:sp>
        <p:nvSpPr>
          <p:cNvPr id="14" name="Text Box 193"/>
          <p:cNvSpPr txBox="1">
            <a:spLocks noChangeArrowheads="1"/>
          </p:cNvSpPr>
          <p:nvPr/>
        </p:nvSpPr>
        <p:spPr bwMode="auto">
          <a:xfrm>
            <a:off x="20178184" y="27637946"/>
            <a:ext cx="8407576" cy="533725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Sistemul oferă stabilizare robustă cu cost computațional redus și parametri intuitivi. ORB + Homografie + netezire Gaussiană reprezintă un compromis bun între calitate și viteză. Platforma este extensibilă pentru filtre suplimentare (denoise temporal, sharpening adaptiv) și pentru exportul metadatelor de mișcare.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78184" y="26746399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Conclusions</a:t>
            </a:r>
          </a:p>
        </p:txBody>
      </p:sp>
      <p:sp>
        <p:nvSpPr>
          <p:cNvPr id="11" name="Text Box 190"/>
          <p:cNvSpPr txBox="1">
            <a:spLocks noChangeArrowheads="1"/>
          </p:cNvSpPr>
          <p:nvPr/>
        </p:nvSpPr>
        <p:spPr bwMode="auto">
          <a:xfrm>
            <a:off x="1711016" y="18730358"/>
            <a:ext cx="8407576" cy="5891255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3600" noProof="1"/>
              <a:t>Problema: Filmări handheld / dash / phone conțin mișcare nedorită de frecvență joasă și jitter de frame. Stabilizarea software reduce oboseala vizuală și crește utilitatea analitică. Abordările clasice: block matching, flux optic dens, modele afine/homografii + filtrare traiectorie. Obiectiv: soluție cross‑platform, rapidă, configurabilă, ușor de extins.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29850" y="20505572"/>
            <a:ext cx="8407576" cy="891547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6970" tIns="43485" rIns="86970" bIns="43485" rtlCol="0" anchor="ctr"/>
          <a:lstStyle/>
          <a:p>
            <a:pPr algn="ctr"/>
            <a:r>
              <a:rPr lang="en-US" sz="3600" noProof="1">
                <a:solidFill>
                  <a:schemeClr val="accent3">
                    <a:lumMod val="20000"/>
                    <a:lumOff val="80000"/>
                  </a:schemeClr>
                </a:solidFill>
              </a:rPr>
              <a:t>Rezulate experiment</a:t>
            </a:r>
          </a:p>
        </p:txBody>
      </p:sp>
      <p:pic>
        <p:nvPicPr>
          <p:cNvPr id="1028" name="Picture 4" descr="Facultatea de Automatică și Calculatoare din Iași te pregătește pentru  admitere - Blog Adservio">
            <a:extLst>
              <a:ext uri="{FF2B5EF4-FFF2-40B4-BE49-F238E27FC236}">
                <a16:creationId xmlns:a16="http://schemas.microsoft.com/office/drawing/2014/main" id="{96029DE9-FEAC-40C6-EB6F-021173467D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167" y="380485"/>
            <a:ext cx="4481796" cy="2521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7FE8D9E-6C02-3802-246B-9714ADB03EE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24882052"/>
              </p:ext>
            </p:extLst>
          </p:nvPr>
        </p:nvGraphicFramePr>
        <p:xfrm>
          <a:off x="1111510" y="26769655"/>
          <a:ext cx="5070970" cy="50660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2D02DDE-593A-4ECA-74F2-8F6671391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637" y="32141319"/>
            <a:ext cx="5070969" cy="5070969"/>
          </a:xfrm>
          <a:prstGeom prst="rect">
            <a:avLst/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03810BC-7EC6-5509-B946-A970495AB05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104083" y="7795926"/>
            <a:ext cx="8481676" cy="562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251862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Savon</Template>
  <TotalTime>2621</TotalTime>
  <Words>700</Words>
  <Application>Microsoft Office PowerPoint</Application>
  <PresentationFormat>Custom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Corbel</vt:lpstr>
      <vt:lpstr>Wingdings 2</vt:lpstr>
      <vt:lpstr>Frame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A0/A1</dc:title>
  <dc:creator>Jay Larson</dc:creator>
  <dc:description>Quality poster printing
www.genigraphics.com
1-800-790-4001</dc:description>
  <cp:lastModifiedBy>Costi</cp:lastModifiedBy>
  <cp:revision>64</cp:revision>
  <cp:lastPrinted>2013-02-12T02:21:55Z</cp:lastPrinted>
  <dcterms:created xsi:type="dcterms:W3CDTF">2013-02-10T21:14:48Z</dcterms:created>
  <dcterms:modified xsi:type="dcterms:W3CDTF">2025-09-03T22:36:53Z</dcterms:modified>
</cp:coreProperties>
</file>