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</p:sldIdLst>
  <p:sldSz cx="30267275" cy="42794238"/>
  <p:notesSz cx="7004050" cy="9290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60" autoAdjust="0"/>
    <p:restoredTop sz="94676" autoAdjust="0"/>
  </p:normalViewPr>
  <p:slideViewPr>
    <p:cSldViewPr>
      <p:cViewPr varScale="1">
        <p:scale>
          <a:sx n="24" d="100"/>
          <a:sy n="24" d="100"/>
        </p:scale>
        <p:origin x="72" y="312"/>
      </p:cViewPr>
      <p:guideLst>
        <p:guide orient="horz" pos="13479"/>
        <p:guide pos="95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>
        <c:manualLayout>
          <c:layoutTarget val="inner"/>
          <c:xMode val="edge"/>
          <c:yMode val="edge"/>
          <c:x val="6.1774880179495256E-2"/>
          <c:y val="3.3002533313192299E-2"/>
          <c:w val="0.77826212929862304"/>
          <c:h val="0.91211508126165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D4-9349-84AB-00A1596E06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D4-9349-84AB-00A1596E06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D4-9349-84AB-00A1596E06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3736960"/>
        <c:axId val="93738496"/>
      </c:barChart>
      <c:catAx>
        <c:axId val="937369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93738496"/>
        <c:crosses val="autoZero"/>
        <c:auto val="1"/>
        <c:lblAlgn val="ctr"/>
        <c:lblOffset val="100"/>
        <c:noMultiLvlLbl val="0"/>
      </c:catAx>
      <c:valAx>
        <c:axId val="937384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9373696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46995412232967032"/>
          <c:y val="0.86382178649345376"/>
          <c:w val="0.12673105779834759"/>
          <c:h val="0.1309340323263640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0.99779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A5C6F9E8-86CB-2F75-7219-AE4207DF327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5059749" cy="5066021"/>
        </a:xfrm>
        <a:prstGeom xmlns:a="http://schemas.openxmlformats.org/drawingml/2006/main" prst="rect">
          <a:avLst/>
        </a:prstGeom>
        <a:effectLst xmlns:a="http://schemas.openxmlformats.org/drawingml/2006/main">
          <a:outerShdw blurRad="50800" dist="38100" dir="10800000" algn="r" rotWithShape="0">
            <a:prstClr val="black">
              <a:alpha val="40000"/>
            </a:prstClr>
          </a:outerShdw>
        </a:effectLst>
      </cdr:spPr>
    </cdr:pic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</p:spPr>
        <p:txBody>
          <a:bodyPr anchor="b"/>
          <a:lstStyle>
            <a:lvl1pPr algn="ctr"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</p:spPr>
        <p:txBody>
          <a:bodyPr/>
          <a:lstStyle>
            <a:lvl1pPr marL="0" indent="0" algn="ctr">
              <a:buNone/>
              <a:defRPr sz="7944"/>
            </a:lvl1pPr>
            <a:lvl2pPr marL="1513378" indent="0" algn="ctr">
              <a:buNone/>
              <a:defRPr sz="6620"/>
            </a:lvl2pPr>
            <a:lvl3pPr marL="3026755" indent="0" algn="ctr">
              <a:buNone/>
              <a:defRPr sz="5958"/>
            </a:lvl3pPr>
            <a:lvl4pPr marL="4540133" indent="0" algn="ctr">
              <a:buNone/>
              <a:defRPr sz="5296"/>
            </a:lvl4pPr>
            <a:lvl5pPr marL="6053511" indent="0" algn="ctr">
              <a:buNone/>
              <a:defRPr sz="5296"/>
            </a:lvl5pPr>
            <a:lvl6pPr marL="7566889" indent="0" algn="ctr">
              <a:buNone/>
              <a:defRPr sz="5296"/>
            </a:lvl6pPr>
            <a:lvl7pPr marL="9080266" indent="0" algn="ctr">
              <a:buNone/>
              <a:defRPr sz="5296"/>
            </a:lvl7pPr>
            <a:lvl8pPr marL="10593644" indent="0" algn="ctr">
              <a:buNone/>
              <a:defRPr sz="5296"/>
            </a:lvl8pPr>
            <a:lvl9pPr marL="12107022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9/4/25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25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9/4/25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045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</p:spPr>
        <p:txBody>
          <a:bodyPr anchor="b"/>
          <a:lstStyle>
            <a:lvl1pPr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</p:spPr>
        <p:txBody>
          <a:bodyPr/>
          <a:lstStyle>
            <a:lvl1pPr marL="0" indent="0">
              <a:buNone/>
              <a:defRPr sz="7944">
                <a:solidFill>
                  <a:schemeClr val="tx1"/>
                </a:solidFill>
              </a:defRPr>
            </a:lvl1pPr>
            <a:lvl2pPr marL="1513378" indent="0">
              <a:buNone/>
              <a:defRPr sz="6620">
                <a:solidFill>
                  <a:schemeClr val="tx1">
                    <a:tint val="75000"/>
                  </a:schemeClr>
                </a:solidFill>
              </a:defRPr>
            </a:lvl2pPr>
            <a:lvl3pPr marL="3026755" indent="0">
              <a:buNone/>
              <a:defRPr sz="5958">
                <a:solidFill>
                  <a:schemeClr val="tx1">
                    <a:tint val="75000"/>
                  </a:schemeClr>
                </a:solidFill>
              </a:defRPr>
            </a:lvl3pPr>
            <a:lvl4pPr marL="454013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4pPr>
            <a:lvl5pPr marL="6053511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5pPr>
            <a:lvl6pPr marL="7566889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6pPr>
            <a:lvl7pPr marL="9080266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7pPr>
            <a:lvl8pPr marL="10593644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8pPr>
            <a:lvl9pPr marL="12107022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9/4/25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8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9/4/25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15631784"/>
            <a:ext cx="1280447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10490535"/>
            <a:ext cx="1286753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15631784"/>
            <a:ext cx="1286753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9/4/25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090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9/4/25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429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9/4/25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4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87"/>
            <a:ext cx="15322808" cy="30411646"/>
          </a:xfrm>
        </p:spPr>
        <p:txBody>
          <a:bodyPr/>
          <a:lstStyle>
            <a:lvl1pPr>
              <a:defRPr sz="10592"/>
            </a:lvl1pPr>
            <a:lvl2pPr>
              <a:defRPr sz="9268"/>
            </a:lvl2pPr>
            <a:lvl3pPr>
              <a:defRPr sz="7944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9/4/25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86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87"/>
            <a:ext cx="15322808" cy="30411646"/>
          </a:xfrm>
        </p:spPr>
        <p:txBody>
          <a:bodyPr anchor="t"/>
          <a:lstStyle>
            <a:lvl1pPr marL="0" indent="0">
              <a:buNone/>
              <a:defRPr sz="10592"/>
            </a:lvl1pPr>
            <a:lvl2pPr marL="1513378" indent="0">
              <a:buNone/>
              <a:defRPr sz="9268"/>
            </a:lvl2pPr>
            <a:lvl3pPr marL="3026755" indent="0">
              <a:buNone/>
              <a:defRPr sz="7944"/>
            </a:lvl3pPr>
            <a:lvl4pPr marL="4540133" indent="0">
              <a:buNone/>
              <a:defRPr sz="6620"/>
            </a:lvl4pPr>
            <a:lvl5pPr marL="6053511" indent="0">
              <a:buNone/>
              <a:defRPr sz="6620"/>
            </a:lvl5pPr>
            <a:lvl6pPr marL="7566889" indent="0">
              <a:buNone/>
              <a:defRPr sz="6620"/>
            </a:lvl6pPr>
            <a:lvl7pPr marL="9080266" indent="0">
              <a:buNone/>
              <a:defRPr sz="6620"/>
            </a:lvl7pPr>
            <a:lvl8pPr marL="10593644" indent="0">
              <a:buNone/>
              <a:defRPr sz="6620"/>
            </a:lvl8pPr>
            <a:lvl9pPr marL="12107022" indent="0">
              <a:buNone/>
              <a:defRPr sz="66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9/4/25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19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9/4/25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6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2278397"/>
            <a:ext cx="6526381" cy="362661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2278397"/>
            <a:ext cx="19200803" cy="362661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9/4/25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29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9426517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0267275" cy="534927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7444959"/>
            <a:ext cx="30267275" cy="5349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9" name="Instructions"/>
          <p:cNvSpPr/>
          <p:nvPr userDrawn="1"/>
        </p:nvSpPr>
        <p:spPr>
          <a:xfrm>
            <a:off x="-12611365" y="0"/>
            <a:ext cx="11770607" cy="427942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7425" tIns="217425" rIns="217425" bIns="217425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88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set up for A0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international paper size of 1189 mm x 841 mm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(46.8” high by 33.1” wide). It can be printed at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70.6% for an A1 poster of 841 mm x 594 mm.</a:t>
            </a:r>
            <a:endParaRPr lang="en-US" sz="60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88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282"/>
              </a:spcAft>
            </a:pPr>
            <a:b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31108033" y="0"/>
            <a:ext cx="11770607" cy="42794238"/>
            <a:chOff x="33832800" y="0"/>
            <a:chExt cx="12801600" cy="43891200"/>
          </a:xfrm>
        </p:grpSpPr>
        <p:sp>
          <p:nvSpPr>
            <p:cNvPr id="13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88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8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delivery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International: +(1) 913-441-1410</a:t>
              </a:r>
              <a:b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8425085"/>
              <a:ext cx="11904515" cy="10246926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037" y="42504519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92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9/4/25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80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</p:sldLayoutIdLst>
  <p:txStyles>
    <p:titleStyle>
      <a:lvl1pPr algn="l" defTabSz="3026755" rtl="0" eaLnBrk="1" latinLnBrk="0" hangingPunct="1">
        <a:lnSpc>
          <a:spcPct val="90000"/>
        </a:lnSpc>
        <a:spcBef>
          <a:spcPct val="0"/>
        </a:spcBef>
        <a:buNone/>
        <a:defRPr sz="14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689" indent="-756689" algn="l" defTabSz="3026755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8" kern="1200">
          <a:solidFill>
            <a:schemeClr val="tx1"/>
          </a:solidFill>
          <a:latin typeface="+mn-lt"/>
          <a:ea typeface="+mn-ea"/>
          <a:cs typeface="+mn-cs"/>
        </a:defRPr>
      </a:lvl1pPr>
      <a:lvl2pPr marL="227006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3783444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6822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810200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832357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836955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1350333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863711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1pPr>
      <a:lvl2pPr marL="1513378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3026755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3pPr>
      <a:lvl4pPr marL="4540133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053511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7566889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080266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0593644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107022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4715600" y="959856"/>
            <a:ext cx="21117102" cy="5310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434850" rIns="173940" bIns="43485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7200" noProof="1">
                <a:solidFill>
                  <a:schemeClr val="bg1"/>
                </a:solidFill>
              </a:rPr>
              <a:t>Stabilizare Video Monoculară cu Estimare Afină a Mișcării (Python + OpenCV)</a:t>
            </a:r>
          </a:p>
          <a:p>
            <a:pPr algn="ctr"/>
            <a:br>
              <a:rPr lang="en-US" sz="7200" noProof="1">
                <a:solidFill>
                  <a:schemeClr val="bg1"/>
                </a:solidFill>
              </a:rPr>
            </a:br>
            <a:endParaRPr lang="en-US" sz="7200" b="1" noProof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61136" y="39049740"/>
            <a:ext cx="6785901" cy="28578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86970" tIns="43485" rIns="86970" bIns="43485" rtlCol="0">
            <a:spAutoFit/>
          </a:bodyPr>
          <a:lstStyle/>
          <a:p>
            <a:r>
              <a:rPr lang="en-US" sz="3600" noProof="1"/>
              <a:t>CIOBANU CONSTANTIN-MARCU</a:t>
            </a:r>
          </a:p>
          <a:p>
            <a:r>
              <a:rPr lang="en-US" sz="3600" noProof="1"/>
              <a:t>BUTCO DUMITRU-CONSTANTIN</a:t>
            </a:r>
          </a:p>
          <a:p>
            <a:r>
              <a:rPr lang="en-US" sz="3600" noProof="1"/>
              <a:t>Prod Indr. </a:t>
            </a:r>
          </a:p>
          <a:p>
            <a:r>
              <a:rPr lang="en-US" sz="3600" noProof="1"/>
              <a:t>Ș.l. Otilia Zvorișteanu</a:t>
            </a:r>
          </a:p>
          <a:p>
            <a:r>
              <a:rPr lang="en-US" sz="3600" noProof="1"/>
              <a:t>Ș.l. Ștefan Achirei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33638" y="39049741"/>
            <a:ext cx="13452122" cy="2852949"/>
          </a:xfrm>
          <a:prstGeom prst="rect">
            <a:avLst/>
          </a:prstGeom>
          <a:noFill/>
        </p:spPr>
        <p:txBody>
          <a:bodyPr wrap="square" lIns="86970" tIns="86970" rIns="86970" bIns="86970" numCol="1" spcCol="434850" rtlCol="0">
            <a:noAutofit/>
          </a:bodyPr>
          <a:lstStyle/>
          <a:p>
            <a:r>
              <a:rPr lang="en-US" b="1" noProof="1"/>
              <a:t>Referințe (selectiv, în format scurt):</a:t>
            </a:r>
            <a:endParaRPr lang="en-US" noProof="1"/>
          </a:p>
          <a:p>
            <a:r>
              <a:rPr lang="en-US" b="1" noProof="1"/>
              <a:t>[1] OpenCV Documentation – Feature Detection &amp; Description.</a:t>
            </a:r>
            <a:endParaRPr lang="en-US" noProof="1"/>
          </a:p>
          <a:p>
            <a:r>
              <a:rPr lang="en-US" b="1" noProof="1"/>
              <a:t>[2] Rublee et al., ORB: An Efficient Alternative to SIFT or SURF, ICCV 2011.</a:t>
            </a:r>
            <a:endParaRPr lang="en-US" noProof="1"/>
          </a:p>
          <a:p>
            <a:r>
              <a:rPr lang="en-US" b="1" noProof="1"/>
              <a:t>[3] Lowe, Distinctive Image Features from Scale-Invariant Keypoints, IJCV 2004.</a:t>
            </a:r>
            <a:endParaRPr lang="en-US" noProof="1"/>
          </a:p>
          <a:p>
            <a:r>
              <a:rPr lang="en-US" b="1" noProof="1"/>
              <a:t>[4] Fischler &amp; Bolles, Random Sample Consensus (RANSAC), CACM 1981.</a:t>
            </a:r>
            <a:endParaRPr lang="en-US" noProof="1"/>
          </a:p>
          <a:p>
            <a:r>
              <a:rPr lang="en-US" b="1" noProof="1"/>
              <a:t>[5] Nghia Ho – Tutorial stabilizare video (concept de traiectorie + smoothing).</a:t>
            </a:r>
            <a:endParaRPr lang="en-US" noProof="1"/>
          </a:p>
          <a:p>
            <a:r>
              <a:rPr lang="en-US" b="1" noProof="1"/>
              <a:t>[6] Lucas &amp; Kanade, Iterative Image Registration Technique, 1981 (pentru comparație).</a:t>
            </a:r>
            <a:endParaRPr lang="en-US" noProof="1"/>
          </a:p>
        </p:txBody>
      </p:sp>
      <p:sp>
        <p:nvSpPr>
          <p:cNvPr id="27" name="TextBox 26"/>
          <p:cNvSpPr txBox="1"/>
          <p:nvPr/>
        </p:nvSpPr>
        <p:spPr>
          <a:xfrm>
            <a:off x="15133638" y="37890733"/>
            <a:ext cx="3325668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 noProof="1"/>
              <a:t>References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111510" y="6535981"/>
            <a:ext cx="8407576" cy="9769240"/>
          </a:xfrm>
          <a:prstGeom prst="rect">
            <a:avLst/>
          </a:prstGeom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3600" noProof="1"/>
              <a:t>Scop: reducerea tremuratului (jitter) din filmări monoculare handheld prin estimarea și filtrarea traiectoriei camerei. Metodă: detectare colțuri (Shi–Tomasi), urmărire optică (Lucas–Kanade piramidal), estimare transform afină cu RANSAC, netezire (medie mobilă) a traiectoriei cumulative și aplicare transform invers pentru compensare. Implementare: backend Flask + OpenCV, interfață web (upload, parametri window/crop/overlay/side‑by‑side). Rezultat: scădere a variației frame‑to‑frame a deplasărilor cu ~&lt;…&gt;% și îmbunătățire vizuală fără distorsiuni majore.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510" y="5596825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36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Abstract</a:t>
            </a:r>
          </a:p>
        </p:txBody>
      </p:sp>
      <p:sp>
        <p:nvSpPr>
          <p:cNvPr id="15" name="Text Box 194"/>
          <p:cNvSpPr txBox="1">
            <a:spLocks noChangeArrowheads="1"/>
          </p:cNvSpPr>
          <p:nvPr/>
        </p:nvSpPr>
        <p:spPr bwMode="auto">
          <a:xfrm>
            <a:off x="10656121" y="19820429"/>
            <a:ext cx="8407576" cy="1143123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3600" noProof="1"/>
              <a:t>Rezultate:</a:t>
            </a:r>
          </a:p>
          <a:p>
            <a:r>
              <a:rPr lang="en-US" sz="3600" noProof="1"/>
              <a:t>- Stabilizare vizuală: jitter redus semnificativ pe clipuri cu mișcare neregulată de mână.</a:t>
            </a:r>
          </a:p>
          <a:p>
            <a:r>
              <a:rPr lang="en-US" sz="3600" noProof="1"/>
              <a:t>- Pierdere modică la margini (crop 4–8%).</a:t>
            </a:r>
          </a:p>
          <a:p>
            <a:r>
              <a:rPr lang="en-US" sz="3600" noProof="1"/>
              <a:t>Procesare: 44.08 fps (mai rapid decât timpul real)</a:t>
            </a:r>
          </a:p>
          <a:p>
            <a:r>
              <a:rPr lang="en-US" sz="3600" noProof="1"/>
              <a:t>Parametri: fereastră netezire 10 | crop 4% | overlay: da | side-by-side: da | scale: 0.5</a:t>
            </a:r>
          </a:p>
          <a:p>
            <a:r>
              <a:rPr lang="en-US" sz="3600" noProof="1"/>
              <a:t>Trăsături detectate (medie): 221 / cadru</a:t>
            </a:r>
          </a:p>
          <a:p>
            <a:r>
              <a:rPr lang="en-US" sz="3600" noProof="1"/>
              <a:t>Inliers (medie): 200 (≈90.6% din trăsături)</a:t>
            </a:r>
          </a:p>
          <a:p>
            <a:r>
              <a:rPr lang="en-US" sz="3600" noProof="1"/>
              <a:t>Cadre fallback: 7.7%</a:t>
            </a:r>
          </a:p>
          <a:p>
            <a:r>
              <a:rPr lang="en-US" sz="3600" noProof="1"/>
              <a:t>Reducere jitter (std incrementale):</a:t>
            </a:r>
          </a:p>
          <a:p>
            <a:pPr lvl="1"/>
            <a:r>
              <a:rPr lang="en-US" sz="3600" noProof="1"/>
              <a:t>Transl. X: 25.86 → 17.74 px (−31%)</a:t>
            </a:r>
          </a:p>
          <a:p>
            <a:pPr lvl="1"/>
            <a:r>
              <a:rPr lang="en-US" sz="3600" noProof="1"/>
              <a:t>Transl. Y: 38.19 → 21.32 px (−44%)</a:t>
            </a:r>
          </a:p>
          <a:p>
            <a:pPr lvl="1"/>
            <a:r>
              <a:rPr lang="en-US" sz="3600" noProof="1"/>
              <a:t>Rotație: 0.41° → 0.15° (−62%)</a:t>
            </a:r>
          </a:p>
          <a:p>
            <a:r>
              <a:rPr lang="en-US" sz="3600" noProof="1"/>
              <a:t>Observație: stabilizare reușită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1510" y="17422243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36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Introducere</a:t>
            </a:r>
          </a:p>
        </p:txBody>
      </p:sp>
      <p:sp>
        <p:nvSpPr>
          <p:cNvPr id="13" name="Text Box 192"/>
          <p:cNvSpPr txBox="1">
            <a:spLocks noChangeArrowheads="1"/>
          </p:cNvSpPr>
          <p:nvPr/>
        </p:nvSpPr>
        <p:spPr bwMode="auto">
          <a:xfrm>
            <a:off x="10659390" y="6575675"/>
            <a:ext cx="8407576" cy="1143123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3600" noProof="1"/>
              <a:t>Pre-procesare: conversie la gri, opțional downscale (scale).</a:t>
            </a:r>
          </a:p>
          <a:p>
            <a:r>
              <a:rPr lang="en-US" sz="3600" noProof="1"/>
              <a:t>Features: Shi–Tomasi (max 500 puncte, quality 0.01, minDist 20).</a:t>
            </a:r>
          </a:p>
          <a:p>
            <a:r>
              <a:rPr lang="en-US" sz="3600" noProof="1"/>
              <a:t>Tracking: Lucas–Kanade piramidal (niveluri 3, fereastră 21×21).</a:t>
            </a:r>
          </a:p>
          <a:p>
            <a:r>
              <a:rPr lang="en-US" sz="3600" noProof="1"/>
              <a:t>Model: estimateAffinePartial2D + RANSAC (thresh 3 px, maxIters 100).</a:t>
            </a:r>
          </a:p>
          <a:p>
            <a:r>
              <a:rPr lang="en-US" sz="3600" noProof="1"/>
              <a:t>Parametri extrași: dx, dy, da (rotație).</a:t>
            </a:r>
          </a:p>
          <a:p>
            <a:r>
              <a:rPr lang="en-US" sz="3600" noProof="1"/>
              <a:t>Traiectorie: acumulare sumă a incrementelor.</a:t>
            </a:r>
          </a:p>
          <a:p>
            <a:r>
              <a:rPr lang="en-US" sz="3600" noProof="1"/>
              <a:t>Smoothing: medie mobilă (fereastră = window).</a:t>
            </a:r>
          </a:p>
          <a:p>
            <a:r>
              <a:rPr lang="en-US" sz="3600" noProof="1"/>
              <a:t>Compensare: diff = smooth − raw → warpAffine + crop (crop%).</a:t>
            </a:r>
          </a:p>
          <a:p>
            <a:r>
              <a:rPr lang="en-US" sz="3600" noProof="1"/>
              <a:t>Output: cadru stabilizat (sau side‑by‑side), overlay opțional (features, mini‑path).</a:t>
            </a:r>
            <a:br>
              <a:rPr lang="en-US" sz="3600" noProof="1"/>
            </a:br>
            <a:r>
              <a:rPr lang="en-US" sz="3600" noProof="1"/>
              <a:t>Stack: Python 3.12, OpenCV, Flask, React (MUI).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64373" y="5596824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36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Metode si Materiale</a:t>
            </a: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20178184" y="17385160"/>
            <a:ext cx="8407576" cy="810724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3600" noProof="1"/>
              <a:t>Avantaje: implementare simplă, rapidă, parametri intuitivi, diagnostic vizual integrat. Modelul afin parțial limitează artefactele de perspectivă față de homografie instabilă în scene cu parallax. Limitări: blur sever, puține texturi, obiect mare în prim-plan, rotații bruște, rolling shutter (necorectat). Smoothing rectangular poate introduce întârziere la schimbări reale de direcție. Posibilitate extindere: ORB + homografie adaptivă, filtru Kalman / Savitzky–Golay, detectare outlier frames, GPU acceleration.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78184" y="16493613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36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Discutie</a:t>
            </a:r>
          </a:p>
        </p:txBody>
      </p:sp>
      <p:sp>
        <p:nvSpPr>
          <p:cNvPr id="14" name="Text Box 193"/>
          <p:cNvSpPr txBox="1">
            <a:spLocks noChangeArrowheads="1"/>
          </p:cNvSpPr>
          <p:nvPr/>
        </p:nvSpPr>
        <p:spPr bwMode="auto">
          <a:xfrm>
            <a:off x="20178184" y="27637946"/>
            <a:ext cx="8407576" cy="699925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3600" noProof="1"/>
              <a:t>Pipeline-ul atinge obiectivul: reducere semnificativă a jitter-ului cu cost computațional moderat și fără deformări evidente. Structura modulară permite integrarea rapidă a unor modele mai complexe (homografie, multi‑plan). Exportul de statistici oferă trasabilitate și bază pentru monitorizarea calității. Direcții: smoothing avansat, fallback dinamic affine/homography, optimizare performanță.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78184" y="26746399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36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Conclusions</a:t>
            </a:r>
          </a:p>
        </p:txBody>
      </p:sp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111510" y="18297679"/>
            <a:ext cx="8407576" cy="755324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3600" noProof="1"/>
              <a:t>Problema: filmările mobile au jitter de frecvență înaltă care degradează lizibilitatea și analiza ulterioară. Abordări clasice: hardware gimbal, senzori inerțiali, stabilizare software (model transform + smoothing). Obiectiv: soluție software pură, rapidă, configurabilă, cu diagnostic vizual și export de statistici. Contribuție: pipeline clar, parametri puțini, extensibil spre homografie/filtre avansate.</a:t>
            </a:r>
          </a:p>
          <a:p>
            <a:br>
              <a:rPr lang="en-US" sz="3600" noProof="1"/>
            </a:br>
            <a:endParaRPr lang="en-US" sz="3600" noProof="1"/>
          </a:p>
        </p:txBody>
      </p:sp>
      <p:sp>
        <p:nvSpPr>
          <p:cNvPr id="45" name="Rectangle 44"/>
          <p:cNvSpPr/>
          <p:nvPr/>
        </p:nvSpPr>
        <p:spPr>
          <a:xfrm>
            <a:off x="10659390" y="18738958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3600" noProof="1">
                <a:solidFill>
                  <a:schemeClr val="accent3">
                    <a:lumMod val="20000"/>
                    <a:lumOff val="80000"/>
                  </a:schemeClr>
                </a:solidFill>
              </a:rPr>
              <a:t>Rezulate experiment</a:t>
            </a:r>
          </a:p>
        </p:txBody>
      </p:sp>
      <p:pic>
        <p:nvPicPr>
          <p:cNvPr id="1028" name="Picture 4" descr="Facultatea de Automatică și Calculatoare din Iași te pregătește pentru  admitere - Blog Adservio">
            <a:extLst>
              <a:ext uri="{FF2B5EF4-FFF2-40B4-BE49-F238E27FC236}">
                <a16:creationId xmlns:a16="http://schemas.microsoft.com/office/drawing/2014/main" id="{96029DE9-FEAC-40C6-EB6F-021173467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0" y="1267940"/>
            <a:ext cx="4481796" cy="2521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7FE8D9E-6C02-3802-246B-9714ADB03E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4882052"/>
              </p:ext>
            </p:extLst>
          </p:nvPr>
        </p:nvGraphicFramePr>
        <p:xfrm>
          <a:off x="1111510" y="26769655"/>
          <a:ext cx="5070970" cy="5066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2D02DDE-593A-4ECA-74F2-8F6671391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637" y="32141319"/>
            <a:ext cx="5070969" cy="507096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156E43-BBA6-5CC9-B670-D6210788D8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37426" y="5623719"/>
            <a:ext cx="10099366" cy="1042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2610</TotalTime>
  <Words>715</Words>
  <Application>Microsoft Macintosh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A0/A1</dc:title>
  <dc:creator>Jay Larson</dc:creator>
  <dc:description>Quality poster printing
www.genigraphics.com
1-800-790-4001</dc:description>
  <cp:lastModifiedBy>Constantin-Marcu Ciobanu</cp:lastModifiedBy>
  <cp:revision>64</cp:revision>
  <cp:lastPrinted>2013-02-12T02:21:55Z</cp:lastPrinted>
  <dcterms:created xsi:type="dcterms:W3CDTF">2013-02-10T21:14:48Z</dcterms:created>
  <dcterms:modified xsi:type="dcterms:W3CDTF">2025-09-03T23:42:36Z</dcterms:modified>
</cp:coreProperties>
</file>